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1" r:id="rId6"/>
    <p:sldId id="287" r:id="rId7"/>
    <p:sldId id="285" r:id="rId8"/>
    <p:sldId id="286" r:id="rId9"/>
    <p:sldId id="265" r:id="rId10"/>
    <p:sldId id="264" r:id="rId11"/>
    <p:sldId id="279" r:id="rId12"/>
    <p:sldId id="275" r:id="rId13"/>
    <p:sldId id="276" r:id="rId14"/>
    <p:sldId id="262" r:id="rId15"/>
    <p:sldId id="280" r:id="rId16"/>
    <p:sldId id="282" r:id="rId17"/>
    <p:sldId id="283" r:id="rId18"/>
    <p:sldId id="284" r:id="rId19"/>
    <p:sldId id="268" r:id="rId20"/>
    <p:sldId id="269" r:id="rId21"/>
    <p:sldId id="270" r:id="rId22"/>
    <p:sldId id="278" r:id="rId23"/>
    <p:sldId id="288" r:id="rId24"/>
    <p:sldId id="290" r:id="rId25"/>
    <p:sldId id="291" r:id="rId26"/>
    <p:sldId id="294" r:id="rId27"/>
    <p:sldId id="293" r:id="rId28"/>
    <p:sldId id="292" r:id="rId29"/>
    <p:sldId id="273" r:id="rId3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ile chiaro 3 - Color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Stile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96" autoAdjust="0"/>
  </p:normalViewPr>
  <p:slideViewPr>
    <p:cSldViewPr snapToGrid="0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C93D2-E478-4162-9C1E-1F3BA0CA31DE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611F0-C359-4CD6-960F-D2A4C50759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032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F611F0-C359-4CD6-960F-D2A4C5075932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9961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F0132F-4634-F126-06B5-ED64869CB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1026D9D-061B-4CDE-E373-F7CF0F33B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78D7DD-86E1-2CD3-DBFA-B3FE2325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613C-7C1B-424D-A3A9-29D9CAB9DC7E}" type="datetimeFigureOut">
              <a:rPr lang="it-IT" smtClean="0"/>
              <a:t>07/02/2026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20C3188-0142-1477-C694-286E3767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DC061-0BA3-1B06-8745-81F61602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2650-C96A-4C4F-9C41-22E78D2365D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90021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CB789C-15ED-CD3F-6E9F-B8D0C79A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3F2292-4238-7305-F034-15D789FB5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279AAFA-186A-3309-EA17-81C31BB6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613C-7C1B-424D-A3A9-29D9CAB9DC7E}" type="datetimeFigureOut">
              <a:rPr lang="it-IT" smtClean="0"/>
              <a:t>07/02/2026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DD96BF-D007-0E16-6D02-022E7A4CB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E68E57-8E10-CF38-C4A3-93FFF213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2650-C96A-4C4F-9C41-22E78D2365D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59593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EF5FE5-06C0-5689-1763-B583A6BC4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4E514C2-D59D-235F-740E-08DAEC039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4C28B93-C6CB-5330-3152-C517AFC36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613C-7C1B-424D-A3A9-29D9CAB9DC7E}" type="datetimeFigureOut">
              <a:rPr lang="it-IT" smtClean="0"/>
              <a:t>07/02/2026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84A88F-D627-4912-772D-611B6E3B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CBB04A4-4A8F-B408-B8B5-6A7E0C90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2650-C96A-4C4F-9C41-22E78D2365D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5901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1AF5BB-16D5-A162-1ACB-15874B70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50704D-D25D-B9FA-7C81-45A9E0C9B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ABFBE6A-6626-1EE4-76CC-685A307B0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5524717-632E-ABF9-75E8-875A0CB52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613C-7C1B-424D-A3A9-29D9CAB9DC7E}" type="datetimeFigureOut">
              <a:rPr lang="it-IT" smtClean="0"/>
              <a:t>07/02/2026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F26EBDE-EFB6-5A7E-609A-6AAC1C93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8D6FF2A-5DAC-55FF-2B87-990483810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2650-C96A-4C4F-9C41-22E78D2365D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8320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9BC1A5-D41E-889B-8F44-FA50EE18F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9235172-8873-5D78-52BF-EFDF4C0DD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C3D8AC1-80EE-D4A8-A3D1-965C7FC4E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FA13E5A-C459-28EA-CAAE-688EBF02C6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577F90D-2B98-92FB-C2B8-3395365A4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BAB95D4-8B81-C79D-2C88-AC5EF54A4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613C-7C1B-424D-A3A9-29D9CAB9DC7E}" type="datetimeFigureOut">
              <a:rPr lang="it-IT" smtClean="0"/>
              <a:t>07/02/2026</a:t>
            </a:fld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BA876D8-61D7-5772-11F4-C035A26E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1116F29-D389-02F8-36E3-0421B14AD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2650-C96A-4C4F-9C41-22E78D2365D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1531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3C2A23-7C86-F0F6-5E5E-970F3946B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A9BFD5F-D200-1188-F729-0FF0298A0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613C-7C1B-424D-A3A9-29D9CAB9DC7E}" type="datetimeFigureOut">
              <a:rPr lang="it-IT" smtClean="0"/>
              <a:t>07/02/2026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5E0E4E9-6720-F52C-1F13-FF55DAE44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10DA4B-4722-EF19-4BB1-EC791E1A5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2650-C96A-4C4F-9C41-22E78D2365D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9974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0BB5B7E-8A8A-CCDE-405B-68305F25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613C-7C1B-424D-A3A9-29D9CAB9DC7E}" type="datetimeFigureOut">
              <a:rPr lang="it-IT" smtClean="0"/>
              <a:t>07/02/2026</a:t>
            </a:fld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AF5BB9E-3F7E-3A2F-1335-B783BDC4B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D0EC41-C223-81C2-27A4-67967283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2650-C96A-4C4F-9C41-22E78D2365D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770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973652-185F-05A4-9080-1D9EF98A0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248CA7-2E66-8448-73F4-0B0273B5A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3B724BA-3573-CC4E-E932-307EB40B9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F8C321D-DB97-5CEA-573E-15766862F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613C-7C1B-424D-A3A9-29D9CAB9DC7E}" type="datetimeFigureOut">
              <a:rPr lang="it-IT" smtClean="0"/>
              <a:t>07/02/2026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BE769A9-10D0-03D8-3A81-6C84A37F5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B68F19-61D6-B0F2-5738-3A5C96F0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2650-C96A-4C4F-9C41-22E78D2365D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1059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3604D1-2955-FE20-E656-BEE222C26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A23016A-5441-62E3-E6B0-DB77AB9250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16F61CC-DD05-3AC3-F2D4-F4DA819A7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3A18385-90BD-C8D6-3873-9D51E11EE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613C-7C1B-424D-A3A9-29D9CAB9DC7E}" type="datetimeFigureOut">
              <a:rPr lang="it-IT" smtClean="0"/>
              <a:t>07/02/2026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268BD82-0B68-8406-1545-EAC94679E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1A01455-5654-CFB9-6808-B64612C58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2650-C96A-4C4F-9C41-22E78D2365D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97140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8F1870-0B70-A1D4-DB5C-A8EC49D71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FE7B010-4027-7E23-D1BA-F37730E8F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B3B6BC-737E-D0CE-E690-9E8D1A7A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613C-7C1B-424D-A3A9-29D9CAB9DC7E}" type="datetimeFigureOut">
              <a:rPr lang="it-IT" smtClean="0"/>
              <a:t>07/02/2026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04551A6-91D4-DD83-8E73-21F96B932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CE20EC5-B5DF-A627-0AE4-89701A82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2650-C96A-4C4F-9C41-22E78D2365D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7666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B488D8B-6C92-C710-EF0C-64B702CE5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BD7EEBB-90B0-2C24-6639-6328805F4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9BB208-DA51-CD67-0A33-3E7D475C6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613C-7C1B-424D-A3A9-29D9CAB9DC7E}" type="datetimeFigureOut">
              <a:rPr lang="it-IT" smtClean="0"/>
              <a:t>07/02/2026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33D8A1-DAF1-D539-98CE-E65A1DB6D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84CF3A6-712B-0982-A129-FB7A9849D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2650-C96A-4C4F-9C41-22E78D2365D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33995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CD58C3B-8546-509E-57F2-570E9F4F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2E25DD4-D4B9-8CCB-FB53-A225EA4CA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46ECEFA-EAE3-F5B2-DB6A-1FFC2AADC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B613C-7C1B-424D-A3A9-29D9CAB9DC7E}" type="datetimeFigureOut">
              <a:rPr lang="it-IT" smtClean="0"/>
              <a:t>07/02/2026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D62708-7F1D-E06A-E5C3-9F79AC17A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4BB2511-BE80-4852-0F5C-48CE48421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E32650-C96A-4C4F-9C41-22E78D2365D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8053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E8ECC2C-FFCC-E917-2A3B-6BF964BF8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r>
              <a:rPr lang="it-IT" sz="6600" b="1" dirty="0"/>
              <a:t>DataBus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F1D2CD2-0AF7-DB30-2C65-2C0858102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552659"/>
          </a:xfrm>
        </p:spPr>
        <p:txBody>
          <a:bodyPr anchor="t">
            <a:normAutofit/>
          </a:bodyPr>
          <a:lstStyle/>
          <a:p>
            <a:r>
              <a:rPr lang="it-IT" dirty="0"/>
              <a:t>Progetto Base di Dati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12220DC-DDC8-FFA5-8CA9-1BE7971AB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340" y="799830"/>
            <a:ext cx="2477320" cy="2480714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847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38ED083-1DDD-5605-89DE-A3C07224D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552090"/>
            <a:ext cx="3600860" cy="5431536"/>
          </a:xfrm>
        </p:spPr>
        <p:txBody>
          <a:bodyPr>
            <a:normAutofit/>
          </a:bodyPr>
          <a:lstStyle/>
          <a:p>
            <a:r>
              <a:rPr lang="it-IT" sz="6000" b="1" dirty="0"/>
              <a:t>Traccia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9387C9-CF5B-8D34-2A62-FD092C5E2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0"/>
            <a:ext cx="6224335" cy="6013301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it-IT" sz="1600" dirty="0"/>
              <a:t>Si vuole realizzare la base di dati per la gestione operativa di un’azienda di autotrasporti e servizi di linea. Le specifiche raccolte per la progettazione sono le seguenti:</a:t>
            </a:r>
          </a:p>
          <a:p>
            <a:pPr marL="0" indent="0">
              <a:buNone/>
            </a:pPr>
            <a:r>
              <a:rPr lang="it-IT" sz="1600" dirty="0"/>
              <a:t>Il sistema deve registrare le informazioni anagrafiche degli utenti, che includono nome, cognome, email, data di registrazione e un indirizzo composto da via, numero civico, città e CAP. Per ogni utente è necessario memorizzare uno o più numeri di telefono per i contatti. </a:t>
            </a:r>
          </a:p>
          <a:p>
            <a:pPr marL="0" indent="0">
              <a:buNone/>
            </a:pPr>
            <a:r>
              <a:rPr lang="it-IT" sz="1600" dirty="0"/>
              <a:t>Gli utenti possono effettuare prenotazioni per specifiche tratte. In ogni prenotazione è registrata la data in cui è stata effettuata. La prenotazione è strettamente legata a un singolo utente e a una singola tratta. </a:t>
            </a:r>
          </a:p>
          <a:p>
            <a:pPr marL="0" indent="0">
              <a:buNone/>
            </a:pPr>
            <a:r>
              <a:rPr lang="it-IT" sz="1600" dirty="0"/>
              <a:t>L'azienda gestisce diverse tratte. Ogni tratta è definita da un luogo di partenza, un luogo di arrivo, una data, un orario di partenza e un orario di arrivo stimato. Ogni tratta viene effettuata da uno specifico bus, identificato da un codice, dall'azienda produttrice e dalla capacità massima di passeggeri. Per ogni tratta, il sistema deve permettere di verificare in ogni momento il numero di posti ancora disponibili.</a:t>
            </a:r>
          </a:p>
          <a:p>
            <a:pPr marL="0" indent="0">
              <a:buNone/>
            </a:pPr>
            <a:r>
              <a:rPr lang="it-IT" sz="1600" dirty="0"/>
              <a:t>L'azienda dispone di un organico diviso in due ruoli specifici: Autisti, caratterizzati dal numero di patente. Un autista può essere assegnato alla guida di diversi bus e un bus può essere guidato da diversi autisti. Controllori, incaricati di verificare la validità delle prenotazioni. I controllori effettuano verifiche sulle prenotazioni dei passeggeri. Quando avviene un controllo, il sistema deve registrare la data del controllo e l'esito dello stesso. Non tutte le prenotazioni subiscono necessariamente un controllo e possono essere controllate massimo una volta.</a:t>
            </a:r>
          </a:p>
        </p:txBody>
      </p:sp>
    </p:spTree>
    <p:extLst>
      <p:ext uri="{BB962C8B-B14F-4D97-AF65-F5344CB8AC3E}">
        <p14:creationId xmlns:p14="http://schemas.microsoft.com/office/powerpoint/2010/main" val="1141320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19229DB-124D-D2E4-841E-0336CC8E1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Schema Concettuale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1564AF-FFB7-F6CD-EC19-7144EDFF6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Modello E-R di base: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Immagine 5" descr="Immagine che contiene diagramma, Piano, Disegno tecnico, schematico&#10;&#10;Il contenuto generato dall'IA potrebbe non essere corretto.">
            <a:extLst>
              <a:ext uri="{FF2B5EF4-FFF2-40B4-BE49-F238E27FC236}">
                <a16:creationId xmlns:a16="http://schemas.microsoft.com/office/drawing/2014/main" id="{824BCDC5-549F-498E-40F5-804C58D5D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1949607"/>
            <a:ext cx="10125075" cy="479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53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E3B3805-95A2-AEC4-C737-0171270B7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 fontScale="90000"/>
          </a:bodyPr>
          <a:lstStyle/>
          <a:p>
            <a:br>
              <a:rPr lang="it-IT" sz="1800" b="1" dirty="0"/>
            </a:br>
            <a:br>
              <a:rPr lang="it-IT" sz="1800" dirty="0"/>
            </a:br>
            <a:r>
              <a:rPr lang="it-IT" sz="3100" b="1" dirty="0"/>
              <a:t>Dizionario delle Entità</a:t>
            </a:r>
            <a:br>
              <a:rPr lang="it-IT" sz="1800" dirty="0"/>
            </a:br>
            <a:endParaRPr lang="it-IT" sz="1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EDFC5553-AAB0-CE35-49BF-521041F014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4934350"/>
              </p:ext>
            </p:extLst>
          </p:nvPr>
        </p:nvGraphicFramePr>
        <p:xfrm>
          <a:off x="838202" y="1901952"/>
          <a:ext cx="10506457" cy="36301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8985">
                  <a:extLst>
                    <a:ext uri="{9D8B030D-6E8A-4147-A177-3AD203B41FA5}">
                      <a16:colId xmlns:a16="http://schemas.microsoft.com/office/drawing/2014/main" val="1175864362"/>
                    </a:ext>
                  </a:extLst>
                </a:gridCol>
                <a:gridCol w="3533692">
                  <a:extLst>
                    <a:ext uri="{9D8B030D-6E8A-4147-A177-3AD203B41FA5}">
                      <a16:colId xmlns:a16="http://schemas.microsoft.com/office/drawing/2014/main" val="921523176"/>
                    </a:ext>
                  </a:extLst>
                </a:gridCol>
                <a:gridCol w="3338352">
                  <a:extLst>
                    <a:ext uri="{9D8B030D-6E8A-4147-A177-3AD203B41FA5}">
                      <a16:colId xmlns:a16="http://schemas.microsoft.com/office/drawing/2014/main" val="987957825"/>
                    </a:ext>
                  </a:extLst>
                </a:gridCol>
                <a:gridCol w="2485428">
                  <a:extLst>
                    <a:ext uri="{9D8B030D-6E8A-4147-A177-3AD203B41FA5}">
                      <a16:colId xmlns:a16="http://schemas.microsoft.com/office/drawing/2014/main" val="969205034"/>
                    </a:ext>
                  </a:extLst>
                </a:gridCol>
              </a:tblGrid>
              <a:tr h="3188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Entità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Descrizione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Attributi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Identificatore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745327250"/>
                  </a:ext>
                </a:extLst>
              </a:tr>
              <a:tr h="588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Utente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Una persona che vuole prenotare dei posti in un bus per una determinata tratta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Nome, Cognome, DataRegistrazione, E-mail, Telefono, Città, Via, Numero Civico, Cap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IDUtente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409282426"/>
                  </a:ext>
                </a:extLst>
              </a:tr>
              <a:tr h="588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Prenotazione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Prenotazione che l’utente effettua per avere il posto prenotato per una tratta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DataPrenotazione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IDPrenotazione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1067518135"/>
                  </a:ext>
                </a:extLst>
              </a:tr>
              <a:tr h="588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Tratta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Corsa del bus che contiene gli orari e le zone dove si deve viaggiare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OrarioArrivo, Partenza, Arrivo, NumeroPostiDisponibili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Data, OrarioPartenza, </a:t>
                      </a:r>
                      <a:r>
                        <a:rPr lang="it-IT" sz="1200" kern="100" dirty="0" err="1">
                          <a:effectLst/>
                        </a:rPr>
                        <a:t>CodiceBus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1633170608"/>
                  </a:ext>
                </a:extLst>
              </a:tr>
              <a:tr h="588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Bus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Mezzo di trasporto pubblico guidato da un autista, nel quale vengono prenotati i posti 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Azienda, Capacità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CodiceBus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1641113953"/>
                  </a:ext>
                </a:extLst>
              </a:tr>
              <a:tr h="3188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Personale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Personale che lavora nel bus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Nome, Cognome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IDPersonale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1012991123"/>
                  </a:ext>
                </a:extLst>
              </a:tr>
              <a:tr h="3188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Autista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Il personale che guida il bus 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NumeroPatente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/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109228755"/>
                  </a:ext>
                </a:extLst>
              </a:tr>
              <a:tr h="3188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Controllore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Il personale che controlla le prenotazioni nel bus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 /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/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1416925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54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2F3AB-7086-3D06-A10C-CDBC9A51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0B4E3A-44B2-CB3B-2415-B63AFE8AD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C564E1A-80DD-2A92-0357-3F6F3ECA1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it-IT" sz="2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Dizionario delle Relazioni</a:t>
            </a:r>
            <a:endParaRPr lang="it-IT" sz="2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1B4298-BA4F-0E9A-DCCA-EC52E4F0B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4FE8CB-11FA-48A9-61CF-E252FA440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Segnaposto contenuto 11">
            <a:extLst>
              <a:ext uri="{FF2B5EF4-FFF2-40B4-BE49-F238E27FC236}">
                <a16:creationId xmlns:a16="http://schemas.microsoft.com/office/drawing/2014/main" id="{A9B4D0EA-0A23-5B39-0115-A6F10C7D51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7291053"/>
              </p:ext>
            </p:extLst>
          </p:nvPr>
        </p:nvGraphicFramePr>
        <p:xfrm>
          <a:off x="841248" y="1883664"/>
          <a:ext cx="10506457" cy="36108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2902">
                  <a:extLst>
                    <a:ext uri="{9D8B030D-6E8A-4147-A177-3AD203B41FA5}">
                      <a16:colId xmlns:a16="http://schemas.microsoft.com/office/drawing/2014/main" val="2854764206"/>
                    </a:ext>
                  </a:extLst>
                </a:gridCol>
                <a:gridCol w="2757451">
                  <a:extLst>
                    <a:ext uri="{9D8B030D-6E8A-4147-A177-3AD203B41FA5}">
                      <a16:colId xmlns:a16="http://schemas.microsoft.com/office/drawing/2014/main" val="3438502185"/>
                    </a:ext>
                  </a:extLst>
                </a:gridCol>
                <a:gridCol w="4160472">
                  <a:extLst>
                    <a:ext uri="{9D8B030D-6E8A-4147-A177-3AD203B41FA5}">
                      <a16:colId xmlns:a16="http://schemas.microsoft.com/office/drawing/2014/main" val="587161690"/>
                    </a:ext>
                  </a:extLst>
                </a:gridCol>
                <a:gridCol w="1865632">
                  <a:extLst>
                    <a:ext uri="{9D8B030D-6E8A-4147-A177-3AD203B41FA5}">
                      <a16:colId xmlns:a16="http://schemas.microsoft.com/office/drawing/2014/main" val="514065720"/>
                    </a:ext>
                  </a:extLst>
                </a:gridCol>
              </a:tblGrid>
              <a:tr h="2527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Relazione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Descrizione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Entità coinvolte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Attributi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1366385"/>
                  </a:ext>
                </a:extLst>
              </a:tr>
              <a:tr h="5145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Effettuare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L’utente effettua una prenotazione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Utente (0,N) – Prenotazione (1,1)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/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5788657"/>
                  </a:ext>
                </a:extLst>
              </a:tr>
              <a:tr h="7763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Associare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La prenotazione è associata ad una tratta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Prenotazione (1,1)</a:t>
                      </a:r>
                      <a:r>
                        <a:rPr lang="it-IT" sz="1400" kern="1200" dirty="0">
                          <a:effectLst/>
                        </a:rPr>
                        <a:t> </a:t>
                      </a:r>
                      <a:r>
                        <a:rPr lang="it-IT" sz="1200" kern="100" dirty="0">
                          <a:effectLst/>
                        </a:rPr>
                        <a:t>– Tratta (1,N)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/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268073"/>
                  </a:ext>
                </a:extLst>
              </a:tr>
              <a:tr h="5145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Viaggiare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Il bus viaggia su una tratta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Bus (1,N) – Tratta (1,1)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/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6830273"/>
                  </a:ext>
                </a:extLst>
              </a:tr>
              <a:tr h="5145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Guidare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L’autista guida un bus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Autista (1,N) – Bus (1,N)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5315571"/>
                  </a:ext>
                </a:extLst>
              </a:tr>
              <a:tr h="10381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Controllare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Il controllore controlla le prenotazioni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Controllore (0,N) – Prenotazione (0,1)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DataControllo, EsitoControllo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0028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277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D1292-4174-DFAF-2C5B-631617199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DC8468-248F-2155-D8BF-F9CCEDBAA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535EACB-2D57-592B-0199-F102A5C7C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it-IT" sz="2800" b="1" dirty="0"/>
              <a:t>Tavola dei volumi</a:t>
            </a:r>
            <a:endParaRPr lang="it-IT" sz="2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4A8784-CB51-1170-BBB1-0596CCB01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93FFB2-5CB3-97A3-FAB4-10313A92F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854CF5AB-6538-1587-944C-38E5177C28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557183"/>
              </p:ext>
            </p:extLst>
          </p:nvPr>
        </p:nvGraphicFramePr>
        <p:xfrm>
          <a:off x="841248" y="1746202"/>
          <a:ext cx="10506456" cy="44231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4891">
                  <a:extLst>
                    <a:ext uri="{9D8B030D-6E8A-4147-A177-3AD203B41FA5}">
                      <a16:colId xmlns:a16="http://schemas.microsoft.com/office/drawing/2014/main" val="375162345"/>
                    </a:ext>
                  </a:extLst>
                </a:gridCol>
                <a:gridCol w="3352811">
                  <a:extLst>
                    <a:ext uri="{9D8B030D-6E8A-4147-A177-3AD203B41FA5}">
                      <a16:colId xmlns:a16="http://schemas.microsoft.com/office/drawing/2014/main" val="1556506004"/>
                    </a:ext>
                  </a:extLst>
                </a:gridCol>
                <a:gridCol w="5058754">
                  <a:extLst>
                    <a:ext uri="{9D8B030D-6E8A-4147-A177-3AD203B41FA5}">
                      <a16:colId xmlns:a16="http://schemas.microsoft.com/office/drawing/2014/main" val="644170017"/>
                    </a:ext>
                  </a:extLst>
                </a:gridCol>
              </a:tblGrid>
              <a:tr h="344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Concetto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Tipo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Volume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9167333"/>
                  </a:ext>
                </a:extLst>
              </a:tr>
              <a:tr h="344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Utente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800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356748"/>
                  </a:ext>
                </a:extLst>
              </a:tr>
              <a:tr h="2880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Prenotazione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1200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9392806"/>
                  </a:ext>
                </a:extLst>
              </a:tr>
              <a:tr h="344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Tratta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60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3956493"/>
                  </a:ext>
                </a:extLst>
              </a:tr>
              <a:tr h="344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Bus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40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9696030"/>
                  </a:ext>
                </a:extLst>
              </a:tr>
              <a:tr h="344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Personale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0546796"/>
                  </a:ext>
                </a:extLst>
              </a:tr>
              <a:tr h="344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Autista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60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2699919"/>
                  </a:ext>
                </a:extLst>
              </a:tr>
              <a:tr h="344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Controllore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30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5526182"/>
                  </a:ext>
                </a:extLst>
              </a:tr>
              <a:tr h="344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Effettuare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R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1200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7716817"/>
                  </a:ext>
                </a:extLst>
              </a:tr>
              <a:tr h="344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Associare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R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1200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2179483"/>
                  </a:ext>
                </a:extLst>
              </a:tr>
              <a:tr h="344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Viaggiare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R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60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6069110"/>
                  </a:ext>
                </a:extLst>
              </a:tr>
              <a:tr h="344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Guidare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R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120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6509355"/>
                  </a:ext>
                </a:extLst>
              </a:tr>
              <a:tr h="344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Controllare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R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1000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9896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038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>
            <a:extLst>
              <a:ext uri="{FF2B5EF4-FFF2-40B4-BE49-F238E27FC236}">
                <a16:creationId xmlns:a16="http://schemas.microsoft.com/office/drawing/2014/main" id="{1EE242A1-0D34-8A9E-C945-96E82C03E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52" y="1237086"/>
            <a:ext cx="5602224" cy="419136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4084F9D1-2801-9C84-6BC1-98F488422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514"/>
            <a:ext cx="10515600" cy="1325563"/>
          </a:xfrm>
        </p:spPr>
        <p:txBody>
          <a:bodyPr>
            <a:normAutofit/>
          </a:bodyPr>
          <a:lstStyle/>
          <a:p>
            <a:r>
              <a:rPr lang="it-IT" sz="4000" b="1" dirty="0"/>
              <a:t>Analisi delle Ridondanze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2857578-AC15-688B-BA3A-E498099737B7}"/>
              </a:ext>
            </a:extLst>
          </p:cNvPr>
          <p:cNvSpPr txBox="1"/>
          <p:nvPr/>
        </p:nvSpPr>
        <p:spPr>
          <a:xfrm>
            <a:off x="835152" y="1506022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>
                <a:solidFill>
                  <a:schemeClr val="bg2">
                    <a:lumMod val="50000"/>
                  </a:schemeClr>
                </a:solidFill>
              </a:rPr>
              <a:t>Operazione: Verifica disponibilità posti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63EA04D0-A8ED-B9DA-7F39-AE0272D9821B}"/>
                  </a:ext>
                </a:extLst>
              </p:cNvPr>
              <p:cNvSpPr txBox="1"/>
              <p:nvPr/>
            </p:nvSpPr>
            <p:spPr>
              <a:xfrm>
                <a:off x="835152" y="1906132"/>
                <a:ext cx="10722864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600" dirty="0"/>
                  <a:t>Frequenza stimata: Molto alta, gli utenti controllano spesso se c'è posto prima di prenotare. Ipotizziamo 100 volte al giorno. Media passeggeri per tratta: 1200(prenotazioni) / 60 (tratte) = 20</a:t>
                </a:r>
              </a:p>
              <a:p>
                <a:endParaRPr lang="it-IT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sz="1600" i="1" smtClean="0">
                          <a:latin typeface="Cambria Math" panose="02040503050406030204" pitchFamily="18" charset="0"/>
                        </a:rPr>
                        <m:t>𝑃𝑜𝑠𝑡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𝑖𝐷𝑖𝑠𝑝𝑜𝑛𝑖𝑏𝑖𝑙𝑖</m:t>
                      </m:r>
                      <m:r>
                        <a:rPr lang="it-IT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600" i="1" smtClean="0">
                          <a:latin typeface="Cambria Math" panose="02040503050406030204" pitchFamily="18" charset="0"/>
                        </a:rPr>
                        <m:t>𝐶𝑎𝑝𝑎𝑐𝑖𝑡</m:t>
                      </m:r>
                      <m:r>
                        <a:rPr lang="it-IT" sz="1600" i="1" smtClean="0">
                          <a:latin typeface="Cambria Math" panose="02040503050406030204" pitchFamily="18" charset="0"/>
                        </a:rPr>
                        <m:t>à</m:t>
                      </m:r>
                      <m:d>
                        <m:d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𝐵𝑢𝑠</m:t>
                          </m:r>
                        </m:e>
                      </m:d>
                      <m:r>
                        <a:rPr lang="it-IT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sz="1600" i="1">
                          <a:latin typeface="Cambria Math" panose="02040503050406030204" pitchFamily="18" charset="0"/>
                        </a:rPr>
                        <m:t>𝑃𝑟𝑒𝑛𝑜𝑡𝑎𝑧𝑖𝑜𝑛𝑖</m:t>
                      </m:r>
                    </m:oMath>
                  </m:oMathPara>
                </a14:m>
                <a:endParaRPr lang="it-IT" sz="1600" dirty="0"/>
              </a:p>
              <a:p>
                <a:endParaRPr lang="it-IT" sz="16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63EA04D0-A8ED-B9DA-7F39-AE0272D98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52" y="1906132"/>
                <a:ext cx="10722864" cy="1323439"/>
              </a:xfrm>
              <a:prstGeom prst="rect">
                <a:avLst/>
              </a:prstGeom>
              <a:blipFill>
                <a:blip r:embed="rId3"/>
                <a:stretch>
                  <a:fillRect l="-284" t="-138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sellaDiTesto 8">
            <a:extLst>
              <a:ext uri="{FF2B5EF4-FFF2-40B4-BE49-F238E27FC236}">
                <a16:creationId xmlns:a16="http://schemas.microsoft.com/office/drawing/2014/main" id="{986B012A-CCF5-AE0B-1575-984B80B10077}"/>
              </a:ext>
            </a:extLst>
          </p:cNvPr>
          <p:cNvSpPr txBox="1"/>
          <p:nvPr/>
        </p:nvSpPr>
        <p:spPr>
          <a:xfrm>
            <a:off x="313182" y="3162038"/>
            <a:ext cx="44599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SENZA Ridondanza (Attributo Calcolato)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23460271-C7F9-39F8-0004-9EA20240F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470571"/>
              </p:ext>
            </p:extLst>
          </p:nvPr>
        </p:nvGraphicFramePr>
        <p:xfrm>
          <a:off x="313182" y="3531370"/>
          <a:ext cx="5636514" cy="3142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066">
                  <a:extLst>
                    <a:ext uri="{9D8B030D-6E8A-4147-A177-3AD203B41FA5}">
                      <a16:colId xmlns:a16="http://schemas.microsoft.com/office/drawing/2014/main" val="3126664367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123329684"/>
                    </a:ext>
                  </a:extLst>
                </a:gridCol>
                <a:gridCol w="1196038">
                  <a:extLst>
                    <a:ext uri="{9D8B030D-6E8A-4147-A177-3AD203B41FA5}">
                      <a16:colId xmlns:a16="http://schemas.microsoft.com/office/drawing/2014/main" val="544903651"/>
                    </a:ext>
                  </a:extLst>
                </a:gridCol>
                <a:gridCol w="1205786">
                  <a:extLst>
                    <a:ext uri="{9D8B030D-6E8A-4147-A177-3AD203B41FA5}">
                      <a16:colId xmlns:a16="http://schemas.microsoft.com/office/drawing/2014/main" val="2279490912"/>
                    </a:ext>
                  </a:extLst>
                </a:gridCol>
              </a:tblGrid>
              <a:tr h="361311">
                <a:tc>
                  <a:txBody>
                    <a:bodyPr/>
                    <a:lstStyle/>
                    <a:p>
                      <a:r>
                        <a:rPr lang="it-IT" sz="2000" dirty="0"/>
                        <a:t>Concetto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Costrutto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Accessi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Tipo</a:t>
                      </a:r>
                    </a:p>
                  </a:txBody>
                  <a:tcPr marL="101457" marR="101457" marT="50729" marB="50729"/>
                </a:tc>
                <a:extLst>
                  <a:ext uri="{0D108BD9-81ED-4DB2-BD59-A6C34878D82A}">
                    <a16:rowId xmlns:a16="http://schemas.microsoft.com/office/drawing/2014/main" val="3636031117"/>
                  </a:ext>
                </a:extLst>
              </a:tr>
              <a:tr h="516190">
                <a:tc>
                  <a:txBody>
                    <a:bodyPr/>
                    <a:lstStyle/>
                    <a:p>
                      <a:r>
                        <a:rPr lang="it-IT" sz="2000" dirty="0"/>
                        <a:t>Tratta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Entità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1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L</a:t>
                      </a:r>
                    </a:p>
                  </a:txBody>
                  <a:tcPr marL="101457" marR="101457" marT="50729" marB="50729"/>
                </a:tc>
                <a:extLst>
                  <a:ext uri="{0D108BD9-81ED-4DB2-BD59-A6C34878D82A}">
                    <a16:rowId xmlns:a16="http://schemas.microsoft.com/office/drawing/2014/main" val="2750587579"/>
                  </a:ext>
                </a:extLst>
              </a:tr>
              <a:tr h="516190">
                <a:tc>
                  <a:txBody>
                    <a:bodyPr/>
                    <a:lstStyle/>
                    <a:p>
                      <a:r>
                        <a:rPr lang="it-IT" sz="2000" dirty="0"/>
                        <a:t>Viaggiare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Relazione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1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L</a:t>
                      </a:r>
                    </a:p>
                  </a:txBody>
                  <a:tcPr marL="101457" marR="101457" marT="50729" marB="50729"/>
                </a:tc>
                <a:extLst>
                  <a:ext uri="{0D108BD9-81ED-4DB2-BD59-A6C34878D82A}">
                    <a16:rowId xmlns:a16="http://schemas.microsoft.com/office/drawing/2014/main" val="828247147"/>
                  </a:ext>
                </a:extLst>
              </a:tr>
              <a:tr h="516190">
                <a:tc>
                  <a:txBody>
                    <a:bodyPr/>
                    <a:lstStyle/>
                    <a:p>
                      <a:r>
                        <a:rPr lang="it-IT" sz="2000" dirty="0"/>
                        <a:t>Bus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Entità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1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L</a:t>
                      </a:r>
                    </a:p>
                  </a:txBody>
                  <a:tcPr marL="101457" marR="101457" marT="50729" marB="50729"/>
                </a:tc>
                <a:extLst>
                  <a:ext uri="{0D108BD9-81ED-4DB2-BD59-A6C34878D82A}">
                    <a16:rowId xmlns:a16="http://schemas.microsoft.com/office/drawing/2014/main" val="3687310899"/>
                  </a:ext>
                </a:extLst>
              </a:tr>
              <a:tr h="516190">
                <a:tc>
                  <a:txBody>
                    <a:bodyPr/>
                    <a:lstStyle/>
                    <a:p>
                      <a:r>
                        <a:rPr lang="it-IT" sz="2000" dirty="0"/>
                        <a:t>Associare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Relazione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20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L</a:t>
                      </a:r>
                    </a:p>
                  </a:txBody>
                  <a:tcPr marL="101457" marR="101457" marT="50729" marB="50729"/>
                </a:tc>
                <a:extLst>
                  <a:ext uri="{0D108BD9-81ED-4DB2-BD59-A6C34878D82A}">
                    <a16:rowId xmlns:a16="http://schemas.microsoft.com/office/drawing/2014/main" val="4201709046"/>
                  </a:ext>
                </a:extLst>
              </a:tr>
              <a:tr h="671068">
                <a:tc>
                  <a:txBody>
                    <a:bodyPr/>
                    <a:lstStyle/>
                    <a:p>
                      <a:r>
                        <a:rPr lang="it-IT" sz="2000" dirty="0"/>
                        <a:t>Prenotazione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Entità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20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L</a:t>
                      </a:r>
                    </a:p>
                  </a:txBody>
                  <a:tcPr marL="101457" marR="101457" marT="50729" marB="50729"/>
                </a:tc>
                <a:extLst>
                  <a:ext uri="{0D108BD9-81ED-4DB2-BD59-A6C34878D82A}">
                    <a16:rowId xmlns:a16="http://schemas.microsoft.com/office/drawing/2014/main" val="3835349341"/>
                  </a:ext>
                </a:extLst>
              </a:tr>
            </a:tbl>
          </a:graphicData>
        </a:graphic>
      </p:graphicFrame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683C2C5-F589-244A-9827-09C7ECA120EE}"/>
              </a:ext>
            </a:extLst>
          </p:cNvPr>
          <p:cNvSpPr txBox="1"/>
          <p:nvPr/>
        </p:nvSpPr>
        <p:spPr>
          <a:xfrm>
            <a:off x="6196584" y="3178540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CON Ridondanza (Attributo dentro Tratta)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C2CE4017-BD03-FC89-6F42-087813D52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682836"/>
              </p:ext>
            </p:extLst>
          </p:nvPr>
        </p:nvGraphicFramePr>
        <p:xfrm>
          <a:off x="6242306" y="3531370"/>
          <a:ext cx="5636514" cy="92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066">
                  <a:extLst>
                    <a:ext uri="{9D8B030D-6E8A-4147-A177-3AD203B41FA5}">
                      <a16:colId xmlns:a16="http://schemas.microsoft.com/office/drawing/2014/main" val="3126664367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123329684"/>
                    </a:ext>
                  </a:extLst>
                </a:gridCol>
                <a:gridCol w="1196038">
                  <a:extLst>
                    <a:ext uri="{9D8B030D-6E8A-4147-A177-3AD203B41FA5}">
                      <a16:colId xmlns:a16="http://schemas.microsoft.com/office/drawing/2014/main" val="544903651"/>
                    </a:ext>
                  </a:extLst>
                </a:gridCol>
                <a:gridCol w="1205786">
                  <a:extLst>
                    <a:ext uri="{9D8B030D-6E8A-4147-A177-3AD203B41FA5}">
                      <a16:colId xmlns:a16="http://schemas.microsoft.com/office/drawing/2014/main" val="2279490912"/>
                    </a:ext>
                  </a:extLst>
                </a:gridCol>
              </a:tblGrid>
              <a:tr h="361311">
                <a:tc>
                  <a:txBody>
                    <a:bodyPr/>
                    <a:lstStyle/>
                    <a:p>
                      <a:r>
                        <a:rPr lang="it-IT" sz="2000" dirty="0"/>
                        <a:t>Concetto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Costrutto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Accessi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Tipo</a:t>
                      </a:r>
                    </a:p>
                  </a:txBody>
                  <a:tcPr marL="101457" marR="101457" marT="50729" marB="50729"/>
                </a:tc>
                <a:extLst>
                  <a:ext uri="{0D108BD9-81ED-4DB2-BD59-A6C34878D82A}">
                    <a16:rowId xmlns:a16="http://schemas.microsoft.com/office/drawing/2014/main" val="3636031117"/>
                  </a:ext>
                </a:extLst>
              </a:tr>
              <a:tr h="516190">
                <a:tc>
                  <a:txBody>
                    <a:bodyPr/>
                    <a:lstStyle/>
                    <a:p>
                      <a:r>
                        <a:rPr lang="it-IT" sz="2000" dirty="0"/>
                        <a:t>Tratta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Entità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1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L</a:t>
                      </a:r>
                    </a:p>
                  </a:txBody>
                  <a:tcPr marL="101457" marR="101457" marT="50729" marB="50729"/>
                </a:tc>
                <a:extLst>
                  <a:ext uri="{0D108BD9-81ED-4DB2-BD59-A6C34878D82A}">
                    <a16:rowId xmlns:a16="http://schemas.microsoft.com/office/drawing/2014/main" val="2750587579"/>
                  </a:ext>
                </a:extLst>
              </a:tr>
            </a:tbl>
          </a:graphicData>
        </a:graphic>
      </p:graphicFrame>
      <p:pic>
        <p:nvPicPr>
          <p:cNvPr id="16" name="Immagine 15">
            <a:extLst>
              <a:ext uri="{FF2B5EF4-FFF2-40B4-BE49-F238E27FC236}">
                <a16:creationId xmlns:a16="http://schemas.microsoft.com/office/drawing/2014/main" id="{2834A313-4822-FF05-EB0B-BE7C527E3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0"/>
            <a:ext cx="10543032" cy="23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35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621BC-BBFA-8E99-4E51-A86CAA5A6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>
            <a:extLst>
              <a:ext uri="{FF2B5EF4-FFF2-40B4-BE49-F238E27FC236}">
                <a16:creationId xmlns:a16="http://schemas.microsoft.com/office/drawing/2014/main" id="{2F228E9D-F4FC-CFDE-8360-A1BEC2CBC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52" y="1237086"/>
            <a:ext cx="5602224" cy="419136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56CDE25B-0E8D-D84E-29E6-623D87C62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514"/>
            <a:ext cx="10515600" cy="1325563"/>
          </a:xfrm>
        </p:spPr>
        <p:txBody>
          <a:bodyPr>
            <a:normAutofit/>
          </a:bodyPr>
          <a:lstStyle/>
          <a:p>
            <a:r>
              <a:rPr lang="it-IT" sz="4000" b="1" dirty="0"/>
              <a:t>Calcolo dei costi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2298313-4A88-5429-95A3-7C416C362AA2}"/>
              </a:ext>
            </a:extLst>
          </p:cNvPr>
          <p:cNvSpPr txBox="1"/>
          <p:nvPr/>
        </p:nvSpPr>
        <p:spPr>
          <a:xfrm>
            <a:off x="835152" y="1506022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>
                <a:solidFill>
                  <a:schemeClr val="bg2">
                    <a:lumMod val="50000"/>
                  </a:schemeClr>
                </a:solidFill>
              </a:rPr>
              <a:t>Operazione: Verifica disponibilità posti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E238AE74-972A-5782-3D35-B02AFA8B0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0"/>
            <a:ext cx="10543032" cy="233919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5B47FD0B-9022-C3FA-1BDD-B7ABAEBF0A02}"/>
              </a:ext>
            </a:extLst>
          </p:cNvPr>
          <p:cNvSpPr txBox="1"/>
          <p:nvPr/>
        </p:nvSpPr>
        <p:spPr>
          <a:xfrm>
            <a:off x="832104" y="2058769"/>
            <a:ext cx="1086307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dirty="0"/>
              <a:t>Analisi dei costi in lettura (Verifica disponibilità - 100/giorno):</a:t>
            </a:r>
          </a:p>
          <a:p>
            <a:pPr>
              <a:buNone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Senza ridondanza:</a:t>
            </a:r>
            <a:r>
              <a:rPr lang="it-IT" sz="1600" dirty="0"/>
              <a:t> 43 accessi * 100 oper./giorno = 4.300 accessi/giorno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Con ridondanza:</a:t>
            </a:r>
            <a:r>
              <a:rPr lang="it-IT" sz="1600" dirty="0"/>
              <a:t> 1 accesso * 100 oper./giorno = 100 accessi/giorno</a:t>
            </a:r>
          </a:p>
          <a:p>
            <a:endParaRPr lang="it-IT" sz="1600" dirty="0"/>
          </a:p>
          <a:p>
            <a:pPr>
              <a:buNone/>
            </a:pPr>
            <a:r>
              <a:rPr lang="it-IT" sz="1600" dirty="0"/>
              <a:t>Analisi dei costi in scrittura (Aggiornamento posti - 120/giorno): Mantenere il dato ridondante ha un costo: ogni volta che si fa una PRENOTAZIONE (Operazione 1, 120 volte al giorno), dobbiamo aggiornare il contatore in TRATTA (+2 accessi: lettura e scrittura del dato aggiornato).</a:t>
            </a:r>
          </a:p>
          <a:p>
            <a:pPr>
              <a:buNone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Costo extra scrittura:</a:t>
            </a:r>
            <a:r>
              <a:rPr lang="it-IT" sz="1600" dirty="0"/>
              <a:t> 2 accessi * 120 oper./giorno = 240 accessi extra/giorno</a:t>
            </a:r>
          </a:p>
          <a:p>
            <a:pPr>
              <a:buNone/>
            </a:pPr>
            <a:endParaRPr lang="it-IT" sz="1600" b="1" dirty="0"/>
          </a:p>
          <a:p>
            <a:pPr>
              <a:buNone/>
            </a:pPr>
            <a:r>
              <a:rPr lang="it-IT" sz="1600" b="1" dirty="0"/>
              <a:t>Conclusione:</a:t>
            </a:r>
            <a:r>
              <a:rPr lang="it-IT" sz="1600" dirty="0"/>
              <a:t> Il risparmio in lettura (4.300 - 100 = 4.200 accessi risparmiati) è nettamente superiore al costo extra di scrittura (240 accessi). Pertanto, conviene introdurre l'attributo ridondante NumeroPostiDisponibili nell'entità TRATTA.</a:t>
            </a:r>
          </a:p>
        </p:txBody>
      </p:sp>
    </p:spTree>
    <p:extLst>
      <p:ext uri="{BB962C8B-B14F-4D97-AF65-F5344CB8AC3E}">
        <p14:creationId xmlns:p14="http://schemas.microsoft.com/office/powerpoint/2010/main" val="3524023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8711E3C-9F8F-1D61-6FCA-C12A9C7E2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it-IT" sz="6000" b="1" dirty="0"/>
              <a:t>Ristrutturazione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0E634B-12A0-21AF-52F9-4D32B3EF9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087"/>
            <a:ext cx="10515600" cy="45634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600" b="1" dirty="0">
                <a:solidFill>
                  <a:schemeClr val="bg2">
                    <a:lumMod val="50000"/>
                  </a:schemeClr>
                </a:solidFill>
              </a:rPr>
              <a:t>Analisi Ridondanze:</a:t>
            </a:r>
          </a:p>
          <a:p>
            <a:pPr marL="0" indent="0">
              <a:buNone/>
            </a:pPr>
            <a:r>
              <a:rPr lang="it-IT" sz="1600" dirty="0"/>
              <a:t>inizialmente NumeroPostiDisponibili era un attributo derivato in TRATTA, perché si calcola sottraendo le prenotazioni alla capacità. Poi, nell'analisi delle ridondanze, si è notato che calcolarlo ogni volta costa troppi accessi. Quindi è stato deciso di renderlo un attributo fisso/ridondante in TRATTA per ottimizzare le letture.</a:t>
            </a:r>
          </a:p>
          <a:p>
            <a:pPr marL="0" indent="0">
              <a:buNone/>
            </a:pPr>
            <a:r>
              <a:rPr lang="it-IT" sz="1600" b="1" dirty="0">
                <a:solidFill>
                  <a:schemeClr val="bg2">
                    <a:lumMod val="50000"/>
                  </a:schemeClr>
                </a:solidFill>
              </a:rPr>
              <a:t>Eliminazione delle generalizzazioni:</a:t>
            </a:r>
          </a:p>
          <a:p>
            <a:pPr marL="0" indent="0">
              <a:buNone/>
            </a:pPr>
            <a:r>
              <a:rPr lang="it-IT" sz="1600" dirty="0"/>
              <a:t>Per rendere più semplice lo schema abbiamo accorpato l’entità genitore nelle entità figlie, passando per ereditarietà i suoi attributi e il suo identificatore.</a:t>
            </a:r>
          </a:p>
          <a:p>
            <a:pPr marL="0" indent="0">
              <a:buNone/>
            </a:pPr>
            <a:r>
              <a:rPr lang="it-IT" sz="1600" b="1" dirty="0">
                <a:solidFill>
                  <a:schemeClr val="bg2">
                    <a:lumMod val="50000"/>
                  </a:schemeClr>
                </a:solidFill>
              </a:rPr>
              <a:t>Partizionamento/Accorpamento:</a:t>
            </a:r>
          </a:p>
          <a:p>
            <a:pPr marL="0" indent="0">
              <a:buNone/>
            </a:pPr>
            <a:r>
              <a:rPr lang="it-IT" sz="1600" dirty="0"/>
              <a:t>Riguardo l’attributo multivalore Telefono sull’entità UTENTE con cardinalità (1, N), lo abbiamo trasformato in un’altra entità, con attributo unico Numero (che ne è la chiave) che indica il numero dell’utente, essendo un’associazione uno-a-molti, nello schema logico in telefono andrà anche la chiave dell’utente.</a:t>
            </a:r>
          </a:p>
          <a:p>
            <a:pPr marL="0" indent="0">
              <a:buNone/>
            </a:pPr>
            <a:r>
              <a:rPr lang="it-IT" sz="1600" dirty="0"/>
              <a:t>Sempre su UTENTE c’è anche l’attributo composto Indirizzo, che abbiamo semplicemente eliminato e passato gli attributi atomici nell’entità principale.</a:t>
            </a:r>
          </a:p>
          <a:p>
            <a:pPr marL="0" indent="0">
              <a:buNone/>
            </a:pPr>
            <a:r>
              <a:rPr lang="it-IT" sz="1600" b="1" dirty="0">
                <a:solidFill>
                  <a:schemeClr val="bg2">
                    <a:lumMod val="50000"/>
                  </a:schemeClr>
                </a:solidFill>
              </a:rPr>
              <a:t>Scelta degli identificatori principali:</a:t>
            </a:r>
          </a:p>
          <a:p>
            <a:pPr marL="0" indent="0">
              <a:buNone/>
            </a:pPr>
            <a:r>
              <a:rPr lang="it-IT" sz="1600" dirty="0"/>
              <a:t>L’ultimo passo per semplificare lo schema E-R è stato di eliminare l’entità debole TRATTA, modificandone la chiave che per semplicità è stata messa come attributo aggiunto IDTratta, eliminando la correlazione con l’entità BUS.</a:t>
            </a:r>
          </a:p>
          <a:p>
            <a:pPr marL="0" indent="0">
              <a:buNone/>
            </a:pP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4221803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224785-3F59-A334-E047-349F7844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C3B9763-0E02-412A-94E9-3F2BF84E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Schema Concettuale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AA78A7C-9559-7968-FE4E-DBF03B659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Modello E-R Ristrutturato: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Immagine 4" descr="Immagine che contiene diagramma, testo, Piano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6B8A3606-6562-98A9-6031-6850EA539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610" y="1897207"/>
            <a:ext cx="7764779" cy="492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1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C26F42E-5272-A81C-D548-36A49635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0040"/>
            <a:ext cx="6692827" cy="3892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Vincoli non esprimibili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7CE69BD3-899E-4D3D-4076-1E48DD7FC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128905"/>
              </p:ext>
            </p:extLst>
          </p:nvPr>
        </p:nvGraphicFramePr>
        <p:xfrm>
          <a:off x="5321808" y="2188863"/>
          <a:ext cx="6491658" cy="2480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979">
                  <a:extLst>
                    <a:ext uri="{9D8B030D-6E8A-4147-A177-3AD203B41FA5}">
                      <a16:colId xmlns:a16="http://schemas.microsoft.com/office/drawing/2014/main" val="3073580150"/>
                    </a:ext>
                  </a:extLst>
                </a:gridCol>
                <a:gridCol w="5583679">
                  <a:extLst>
                    <a:ext uri="{9D8B030D-6E8A-4147-A177-3AD203B41FA5}">
                      <a16:colId xmlns:a16="http://schemas.microsoft.com/office/drawing/2014/main" val="2415201918"/>
                    </a:ext>
                  </a:extLst>
                </a:gridCol>
              </a:tblGrid>
              <a:tr h="386993">
                <a:tc>
                  <a:txBody>
                    <a:bodyPr/>
                    <a:lstStyle/>
                    <a:p>
                      <a:r>
                        <a:rPr lang="it-IT" sz="1800" dirty="0"/>
                        <a:t>Id</a:t>
                      </a:r>
                    </a:p>
                  </a:txBody>
                  <a:tcPr marL="87953" marR="87953" marT="43976" marB="4397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Descrizione</a:t>
                      </a:r>
                    </a:p>
                  </a:txBody>
                  <a:tcPr marL="87953" marR="87953" marT="43976" marB="43976"/>
                </a:tc>
                <a:extLst>
                  <a:ext uri="{0D108BD9-81ED-4DB2-BD59-A6C34878D82A}">
                    <a16:rowId xmlns:a16="http://schemas.microsoft.com/office/drawing/2014/main" val="612297970"/>
                  </a:ext>
                </a:extLst>
              </a:tr>
              <a:tr h="1178570">
                <a:tc>
                  <a:txBody>
                    <a:bodyPr/>
                    <a:lstStyle/>
                    <a:p>
                      <a:r>
                        <a:rPr lang="it-IT" sz="1800" dirty="0"/>
                        <a:t>V1</a:t>
                      </a:r>
                    </a:p>
                  </a:txBody>
                  <a:tcPr marL="87953" marR="87953" marT="43976" marB="4397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Non è possibile effettuare una prenotazione se il NumeroPostiDisponibili della tratta è pari a zero.</a:t>
                      </a:r>
                    </a:p>
                  </a:txBody>
                  <a:tcPr marL="87953" marR="87953" marT="43976" marB="43976"/>
                </a:tc>
                <a:extLst>
                  <a:ext uri="{0D108BD9-81ED-4DB2-BD59-A6C34878D82A}">
                    <a16:rowId xmlns:a16="http://schemas.microsoft.com/office/drawing/2014/main" val="424910841"/>
                  </a:ext>
                </a:extLst>
              </a:tr>
              <a:tr h="914711">
                <a:tc>
                  <a:txBody>
                    <a:bodyPr/>
                    <a:lstStyle/>
                    <a:p>
                      <a:r>
                        <a:rPr lang="it-IT" sz="1800" dirty="0"/>
                        <a:t>V2</a:t>
                      </a:r>
                    </a:p>
                  </a:txBody>
                  <a:tcPr marL="87953" marR="87953" marT="43976" marB="4397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La prenotazione deve essere fatta prima della partenza del bus. Non si possono prenotare viaggi già avvenuti.</a:t>
                      </a:r>
                    </a:p>
                  </a:txBody>
                  <a:tcPr marL="87953" marR="87953" marT="43976" marB="43976"/>
                </a:tc>
                <a:extLst>
                  <a:ext uri="{0D108BD9-81ED-4DB2-BD59-A6C34878D82A}">
                    <a16:rowId xmlns:a16="http://schemas.microsoft.com/office/drawing/2014/main" val="2291782184"/>
                  </a:ext>
                </a:extLst>
              </a:tr>
            </a:tbl>
          </a:graphicData>
        </a:graphic>
      </p:graphicFrame>
      <p:pic>
        <p:nvPicPr>
          <p:cNvPr id="6" name="Immagine 5">
            <a:extLst>
              <a:ext uri="{FF2B5EF4-FFF2-40B4-BE49-F238E27FC236}">
                <a16:creationId xmlns:a16="http://schemas.microsoft.com/office/drawing/2014/main" id="{CB601D13-06F8-70C6-7040-02ED4E2B6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0"/>
            <a:ext cx="10543032" cy="23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729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F1B4B-3576-6140-7AED-3C662EA72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23B398-0A7E-4F81-E87E-FFBAA80DD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036A603-E77B-D0E4-621D-B1C95047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 fontScale="90000"/>
          </a:bodyPr>
          <a:lstStyle/>
          <a:p>
            <a:br>
              <a:rPr lang="it-IT" sz="1800" b="1" dirty="0"/>
            </a:br>
            <a:br>
              <a:rPr lang="it-IT" sz="1800" dirty="0"/>
            </a:br>
            <a:r>
              <a:rPr lang="it-IT" sz="3100" b="1" dirty="0"/>
              <a:t>Dizionario delle Entità Ristrutturato</a:t>
            </a:r>
            <a:r>
              <a:rPr lang="it-IT" dirty="0"/>
              <a:t> </a:t>
            </a:r>
            <a:br>
              <a:rPr lang="it-IT" sz="1800" dirty="0"/>
            </a:br>
            <a:endParaRPr lang="it-IT" sz="1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293A6D-4209-1FCA-158F-50BE3E42C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652B25-A15D-7670-DDF9-AFBEF564D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1F45646D-D5B1-5BD5-1A4E-83FEA73FB9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7052419"/>
              </p:ext>
            </p:extLst>
          </p:nvPr>
        </p:nvGraphicFramePr>
        <p:xfrm>
          <a:off x="842772" y="1746202"/>
          <a:ext cx="10501887" cy="41791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8485">
                  <a:extLst>
                    <a:ext uri="{9D8B030D-6E8A-4147-A177-3AD203B41FA5}">
                      <a16:colId xmlns:a16="http://schemas.microsoft.com/office/drawing/2014/main" val="1175864362"/>
                    </a:ext>
                  </a:extLst>
                </a:gridCol>
                <a:gridCol w="3532155">
                  <a:extLst>
                    <a:ext uri="{9D8B030D-6E8A-4147-A177-3AD203B41FA5}">
                      <a16:colId xmlns:a16="http://schemas.microsoft.com/office/drawing/2014/main" val="921523176"/>
                    </a:ext>
                  </a:extLst>
                </a:gridCol>
                <a:gridCol w="3336900">
                  <a:extLst>
                    <a:ext uri="{9D8B030D-6E8A-4147-A177-3AD203B41FA5}">
                      <a16:colId xmlns:a16="http://schemas.microsoft.com/office/drawing/2014/main" val="987957825"/>
                    </a:ext>
                  </a:extLst>
                </a:gridCol>
                <a:gridCol w="2484347">
                  <a:extLst>
                    <a:ext uri="{9D8B030D-6E8A-4147-A177-3AD203B41FA5}">
                      <a16:colId xmlns:a16="http://schemas.microsoft.com/office/drawing/2014/main" val="969205034"/>
                    </a:ext>
                  </a:extLst>
                </a:gridCol>
              </a:tblGrid>
              <a:tr h="3416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Entità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Descrizione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Attributi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Identificatore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745327250"/>
                  </a:ext>
                </a:extLst>
              </a:tr>
              <a:tr h="6308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Utente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Una persona che vuole prenotare dei posti in un bus per una determinata tratta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Nome, Cognome, DataRegistrazione, E-mail, Città, Via, Numero Civico, Cap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IDUtente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409282426"/>
                  </a:ext>
                </a:extLst>
              </a:tr>
              <a:tr h="6308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Telefono</a:t>
                      </a: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Recapito telefonico dell’utente</a:t>
                      </a: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/</a:t>
                      </a: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Numero</a:t>
                      </a: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2046747627"/>
                  </a:ext>
                </a:extLst>
              </a:tr>
              <a:tr h="6308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Prenotazione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Prenotazione che l’utente effettua per avere il posto prenotato per una tratta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DataPrenotazione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IDPrenotazione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1067518135"/>
                  </a:ext>
                </a:extLst>
              </a:tr>
              <a:tr h="6308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Tratta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Corsa del bus che contiene gli orari e le zone dove si deve viaggiare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kern="100" dirty="0">
                          <a:effectLst/>
                        </a:rPr>
                        <a:t>OrarioArrivo, Partenza, Arrivo, Data, OrarioPartenza, NumeroPostiDisponibili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IDTratta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1633170608"/>
                  </a:ext>
                </a:extLst>
              </a:tr>
              <a:tr h="6308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Bus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Mezzo di trasporto pubblico guidato da un autista, nel quale vengono prenotati i posti 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Azienda, Capacità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CodiceBus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1641113953"/>
                  </a:ext>
                </a:extLst>
              </a:tr>
              <a:tr h="3416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Autista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Il personale che ha turni di guida nel bus 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NumeroPatente, Nome, Cognome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IDPersonale</a:t>
                      </a: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109228755"/>
                  </a:ext>
                </a:extLst>
              </a:tr>
              <a:tr h="3416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Controllore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Il personale che controlla le prenotazioni nel bus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 Nome, Cognome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72" marR="646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IDPersonale</a:t>
                      </a:r>
                    </a:p>
                  </a:txBody>
                  <a:tcPr marL="64672" marR="64672" marT="0" marB="0"/>
                </a:tc>
                <a:extLst>
                  <a:ext uri="{0D108BD9-81ED-4DB2-BD59-A6C34878D82A}">
                    <a16:rowId xmlns:a16="http://schemas.microsoft.com/office/drawing/2014/main" val="1416925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339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19C52-4AA3-F358-06DD-5A34B930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710689-29DE-4474-115D-587002582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0E3021A-9894-8072-A67B-2E766302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 fontScale="90000"/>
          </a:bodyPr>
          <a:lstStyle/>
          <a:p>
            <a:br>
              <a:rPr lang="it-IT" sz="1800" b="1" dirty="0"/>
            </a:br>
            <a:br>
              <a:rPr lang="it-IT" sz="1800" dirty="0"/>
            </a:br>
            <a:r>
              <a:rPr lang="it-IT" sz="3100" b="1" dirty="0"/>
              <a:t>Dizionario delle Relazioni Ristrutturato</a:t>
            </a:r>
            <a:r>
              <a:rPr lang="it-IT" dirty="0"/>
              <a:t> </a:t>
            </a:r>
            <a:br>
              <a:rPr lang="it-IT" sz="1800" dirty="0"/>
            </a:br>
            <a:endParaRPr lang="it-IT" sz="1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03E7AC-9CE2-BB50-670E-766D74A0F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050957-24B0-8738-553D-48060E5BE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Segnaposto contenuto 11">
            <a:extLst>
              <a:ext uri="{FF2B5EF4-FFF2-40B4-BE49-F238E27FC236}">
                <a16:creationId xmlns:a16="http://schemas.microsoft.com/office/drawing/2014/main" id="{42267CDE-E525-0CA0-8DCE-51A01E8638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2004549"/>
              </p:ext>
            </p:extLst>
          </p:nvPr>
        </p:nvGraphicFramePr>
        <p:xfrm>
          <a:off x="838202" y="1764490"/>
          <a:ext cx="10509505" cy="41237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3402">
                  <a:extLst>
                    <a:ext uri="{9D8B030D-6E8A-4147-A177-3AD203B41FA5}">
                      <a16:colId xmlns:a16="http://schemas.microsoft.com/office/drawing/2014/main" val="2854764206"/>
                    </a:ext>
                  </a:extLst>
                </a:gridCol>
                <a:gridCol w="2758251">
                  <a:extLst>
                    <a:ext uri="{9D8B030D-6E8A-4147-A177-3AD203B41FA5}">
                      <a16:colId xmlns:a16="http://schemas.microsoft.com/office/drawing/2014/main" val="3438502185"/>
                    </a:ext>
                  </a:extLst>
                </a:gridCol>
                <a:gridCol w="4161679">
                  <a:extLst>
                    <a:ext uri="{9D8B030D-6E8A-4147-A177-3AD203B41FA5}">
                      <a16:colId xmlns:a16="http://schemas.microsoft.com/office/drawing/2014/main" val="587161690"/>
                    </a:ext>
                  </a:extLst>
                </a:gridCol>
                <a:gridCol w="1866173">
                  <a:extLst>
                    <a:ext uri="{9D8B030D-6E8A-4147-A177-3AD203B41FA5}">
                      <a16:colId xmlns:a16="http://schemas.microsoft.com/office/drawing/2014/main" val="514065720"/>
                    </a:ext>
                  </a:extLst>
                </a:gridCol>
              </a:tblGrid>
              <a:tr h="3294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Relazione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Descrizione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Entità coinvolte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Attributi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1366385"/>
                  </a:ext>
                </a:extLst>
              </a:tr>
              <a:tr h="5041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Effettuare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L’utente effettua una prenotazione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Utente (0,N) – Prenotazione (1,1)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/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5788657"/>
                  </a:ext>
                </a:extLst>
              </a:tr>
              <a:tr h="5041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Recapito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L’utente ha il recapito telefonico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kern="100" dirty="0">
                          <a:effectLst/>
                        </a:rPr>
                        <a:t>Utente (1,N) – Telefono (1,1)</a:t>
                      </a:r>
                      <a:endParaRPr lang="it-I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/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0986688"/>
                  </a:ext>
                </a:extLst>
              </a:tr>
              <a:tr h="7606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Associare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La prenotazione è associata ad una tratta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Prenotazione (1,1)</a:t>
                      </a:r>
                      <a:r>
                        <a:rPr lang="it-IT" sz="1400" kern="1200" dirty="0">
                          <a:effectLst/>
                        </a:rPr>
                        <a:t> </a:t>
                      </a:r>
                      <a:r>
                        <a:rPr lang="it-IT" sz="1200" kern="100" dirty="0">
                          <a:effectLst/>
                        </a:rPr>
                        <a:t>– Tratta (1,N)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/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268073"/>
                  </a:ext>
                </a:extLst>
              </a:tr>
              <a:tr h="5041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Viaggiare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Il bus viaggia su una tratta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Bus (1,N) – Tratta (1,1)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/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6830273"/>
                  </a:ext>
                </a:extLst>
              </a:tr>
              <a:tr h="5041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Guidare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L’autista guida un bus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Autista (1,N) – Bus (1,N)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5315571"/>
                  </a:ext>
                </a:extLst>
              </a:tr>
              <a:tr h="10171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Controllare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Il controllore controlla le prenotazioni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Controllore (0,N) – Prenotazione (0,1)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DataControllo, EsitoControllo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0028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055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1525F-FC27-5C87-4EC0-AB2CEA5A6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DAFBB8-E709-1BFA-71C5-D0A623E4D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C991913-6722-E8E2-A500-A893841C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it-IT" sz="2800" b="1" dirty="0"/>
              <a:t>Tavola dei volumi dopo la Ristrutturazione</a:t>
            </a:r>
            <a:endParaRPr lang="it-IT" sz="2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CCB574-E244-6778-4348-E3919E33F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8D1B95-79EF-7A70-99E5-B577402DA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9FFCB00C-5304-1122-9D3D-041BC8ECFC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8747948"/>
              </p:ext>
            </p:extLst>
          </p:nvPr>
        </p:nvGraphicFramePr>
        <p:xfrm>
          <a:off x="841248" y="1801066"/>
          <a:ext cx="10506456" cy="45993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4891">
                  <a:extLst>
                    <a:ext uri="{9D8B030D-6E8A-4147-A177-3AD203B41FA5}">
                      <a16:colId xmlns:a16="http://schemas.microsoft.com/office/drawing/2014/main" val="375162345"/>
                    </a:ext>
                  </a:extLst>
                </a:gridCol>
                <a:gridCol w="3352811">
                  <a:extLst>
                    <a:ext uri="{9D8B030D-6E8A-4147-A177-3AD203B41FA5}">
                      <a16:colId xmlns:a16="http://schemas.microsoft.com/office/drawing/2014/main" val="1556506004"/>
                    </a:ext>
                  </a:extLst>
                </a:gridCol>
                <a:gridCol w="5058754">
                  <a:extLst>
                    <a:ext uri="{9D8B030D-6E8A-4147-A177-3AD203B41FA5}">
                      <a16:colId xmlns:a16="http://schemas.microsoft.com/office/drawing/2014/main" val="644170017"/>
                    </a:ext>
                  </a:extLst>
                </a:gridCol>
              </a:tblGrid>
              <a:tr h="332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Concetto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Tipo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Volume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9167333"/>
                  </a:ext>
                </a:extLst>
              </a:tr>
              <a:tr h="332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Utente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800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356748"/>
                  </a:ext>
                </a:extLst>
              </a:tr>
              <a:tr h="332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Telefono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406033"/>
                  </a:ext>
                </a:extLst>
              </a:tr>
              <a:tr h="2779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Prenotazione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1200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9392806"/>
                  </a:ext>
                </a:extLst>
              </a:tr>
              <a:tr h="332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Tratta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60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3956493"/>
                  </a:ext>
                </a:extLst>
              </a:tr>
              <a:tr h="332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Bus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40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9696030"/>
                  </a:ext>
                </a:extLst>
              </a:tr>
              <a:tr h="332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Autista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60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2699919"/>
                  </a:ext>
                </a:extLst>
              </a:tr>
              <a:tr h="332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Controllore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30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5526182"/>
                  </a:ext>
                </a:extLst>
              </a:tr>
              <a:tr h="332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Effettuare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R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1200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7716817"/>
                  </a:ext>
                </a:extLst>
              </a:tr>
              <a:tr h="332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Recapito</a:t>
                      </a:r>
                      <a:r>
                        <a:rPr lang="it-IT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9885545"/>
                  </a:ext>
                </a:extLst>
              </a:tr>
              <a:tr h="332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Associare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R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1200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2179483"/>
                  </a:ext>
                </a:extLst>
              </a:tr>
              <a:tr h="332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Viaggiare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R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60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6069110"/>
                  </a:ext>
                </a:extLst>
              </a:tr>
              <a:tr h="332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Guidare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R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120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6509355"/>
                  </a:ext>
                </a:extLst>
              </a:tr>
              <a:tr h="332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Controllare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R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200" kern="100" dirty="0">
                          <a:effectLst/>
                        </a:rPr>
                        <a:t>1000</a:t>
                      </a:r>
                      <a:endParaRPr lang="it-IT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9896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4219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58F65D1-7D64-0685-104E-9F468B1EC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it-IT" sz="5000" b="1" dirty="0"/>
              <a:t>Tavola delle Operazioni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4A6CED-095A-EABA-97A2-082E345E0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it-IT" sz="2000" dirty="0"/>
              <a:t>Operazione 1: Inserimento di una nuova prenotazione (utente prenota un posto), effettuato in media 120 volte al giorno</a:t>
            </a:r>
          </a:p>
          <a:p>
            <a:r>
              <a:rPr lang="it-IT" sz="2000" dirty="0"/>
              <a:t>Operazione 2: Stampa della lista passeggeri per una tratta specifica, 10 volte al giorno</a:t>
            </a:r>
          </a:p>
          <a:p>
            <a:r>
              <a:rPr lang="it-IT" sz="2000" dirty="0"/>
              <a:t>Operazione 3: Stampa della lista dei biglietti totali controllati in una giornata, 1 volta al giorno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A3DFE6FF-5303-1072-1C9F-E5AF2A2313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230970"/>
              </p:ext>
            </p:extLst>
          </p:nvPr>
        </p:nvGraphicFramePr>
        <p:xfrm>
          <a:off x="6099048" y="2079618"/>
          <a:ext cx="5458969" cy="269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4993">
                  <a:extLst>
                    <a:ext uri="{9D8B030D-6E8A-4147-A177-3AD203B41FA5}">
                      <a16:colId xmlns:a16="http://schemas.microsoft.com/office/drawing/2014/main" val="3126664367"/>
                    </a:ext>
                  </a:extLst>
                </a:gridCol>
                <a:gridCol w="842660">
                  <a:extLst>
                    <a:ext uri="{9D8B030D-6E8A-4147-A177-3AD203B41FA5}">
                      <a16:colId xmlns:a16="http://schemas.microsoft.com/office/drawing/2014/main" val="544903651"/>
                    </a:ext>
                  </a:extLst>
                </a:gridCol>
                <a:gridCol w="1561316">
                  <a:extLst>
                    <a:ext uri="{9D8B030D-6E8A-4147-A177-3AD203B41FA5}">
                      <a16:colId xmlns:a16="http://schemas.microsoft.com/office/drawing/2014/main" val="2279490912"/>
                    </a:ext>
                  </a:extLst>
                </a:gridCol>
              </a:tblGrid>
              <a:tr h="446413">
                <a:tc>
                  <a:txBody>
                    <a:bodyPr/>
                    <a:lstStyle/>
                    <a:p>
                      <a:r>
                        <a:rPr lang="it-IT" sz="1800" dirty="0"/>
                        <a:t>Operazione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Tipo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Frequenza</a:t>
                      </a:r>
                    </a:p>
                  </a:txBody>
                  <a:tcPr marL="101457" marR="101457" marT="50729" marB="50729"/>
                </a:tc>
                <a:extLst>
                  <a:ext uri="{0D108BD9-81ED-4DB2-BD59-A6C34878D82A}">
                    <a16:rowId xmlns:a16="http://schemas.microsoft.com/office/drawing/2014/main" val="3636031117"/>
                  </a:ext>
                </a:extLst>
              </a:tr>
              <a:tr h="750785">
                <a:tc>
                  <a:txBody>
                    <a:bodyPr/>
                    <a:lstStyle/>
                    <a:p>
                      <a:r>
                        <a:rPr lang="it-IT" sz="1800" dirty="0"/>
                        <a:t>Inserimento nuova prenotazione 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I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120/g</a:t>
                      </a:r>
                    </a:p>
                  </a:txBody>
                  <a:tcPr marL="101457" marR="101457" marT="50729" marB="50729"/>
                </a:tc>
                <a:extLst>
                  <a:ext uri="{0D108BD9-81ED-4DB2-BD59-A6C34878D82A}">
                    <a16:rowId xmlns:a16="http://schemas.microsoft.com/office/drawing/2014/main" val="2750587579"/>
                  </a:ext>
                </a:extLst>
              </a:tr>
              <a:tr h="750785">
                <a:tc>
                  <a:txBody>
                    <a:bodyPr/>
                    <a:lstStyle/>
                    <a:p>
                      <a:r>
                        <a:rPr lang="it-IT" sz="1800" dirty="0"/>
                        <a:t>Stampa lista passeggeri per una tratta 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B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10/g</a:t>
                      </a:r>
                    </a:p>
                  </a:txBody>
                  <a:tcPr marL="101457" marR="101457" marT="50729" marB="50729"/>
                </a:tc>
                <a:extLst>
                  <a:ext uri="{0D108BD9-81ED-4DB2-BD59-A6C34878D82A}">
                    <a16:rowId xmlns:a16="http://schemas.microsoft.com/office/drawing/2014/main" val="4201709046"/>
                  </a:ext>
                </a:extLst>
              </a:tr>
              <a:tr h="750785">
                <a:tc>
                  <a:txBody>
                    <a:bodyPr/>
                    <a:lstStyle/>
                    <a:p>
                      <a:r>
                        <a:rPr lang="it-IT" sz="1800" dirty="0"/>
                        <a:t>Lista dei biglietti totali controllati in giornata 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B</a:t>
                      </a:r>
                    </a:p>
                  </a:txBody>
                  <a:tcPr marL="101457" marR="101457" marT="50729" marB="50729"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1/g</a:t>
                      </a:r>
                    </a:p>
                  </a:txBody>
                  <a:tcPr marL="101457" marR="101457" marT="50729" marB="50729"/>
                </a:tc>
                <a:extLst>
                  <a:ext uri="{0D108BD9-81ED-4DB2-BD59-A6C34878D82A}">
                    <a16:rowId xmlns:a16="http://schemas.microsoft.com/office/drawing/2014/main" val="3835349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301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9EC1765-826D-EC1E-A984-61ECF61BD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Tavola degli accessi (Operazione n°1)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7C71334-DE5F-587D-9BF1-CA1BE0DFC987}"/>
              </a:ext>
            </a:extLst>
          </p:cNvPr>
          <p:cNvSpPr txBox="1"/>
          <p:nvPr/>
        </p:nvSpPr>
        <p:spPr>
          <a:xfrm>
            <a:off x="630936" y="2660904"/>
            <a:ext cx="52760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Descrizione: Un utente sceglie una tratta e prenota un posto.</a:t>
            </a:r>
          </a:p>
        </p:txBody>
      </p:sp>
      <p:graphicFrame>
        <p:nvGraphicFramePr>
          <p:cNvPr id="17" name="Tabella 16">
            <a:extLst>
              <a:ext uri="{FF2B5EF4-FFF2-40B4-BE49-F238E27FC236}">
                <a16:creationId xmlns:a16="http://schemas.microsoft.com/office/drawing/2014/main" id="{047AF1E0-93D1-2EA9-74DA-ED3C9CF7F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665821"/>
              </p:ext>
            </p:extLst>
          </p:nvPr>
        </p:nvGraphicFramePr>
        <p:xfrm>
          <a:off x="5907024" y="2121408"/>
          <a:ext cx="5935980" cy="318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995">
                  <a:extLst>
                    <a:ext uri="{9D8B030D-6E8A-4147-A177-3AD203B41FA5}">
                      <a16:colId xmlns:a16="http://schemas.microsoft.com/office/drawing/2014/main" val="3725989177"/>
                    </a:ext>
                  </a:extLst>
                </a:gridCol>
                <a:gridCol w="1483995">
                  <a:extLst>
                    <a:ext uri="{9D8B030D-6E8A-4147-A177-3AD203B41FA5}">
                      <a16:colId xmlns:a16="http://schemas.microsoft.com/office/drawing/2014/main" val="2164924525"/>
                    </a:ext>
                  </a:extLst>
                </a:gridCol>
                <a:gridCol w="1483995">
                  <a:extLst>
                    <a:ext uri="{9D8B030D-6E8A-4147-A177-3AD203B41FA5}">
                      <a16:colId xmlns:a16="http://schemas.microsoft.com/office/drawing/2014/main" val="3065051780"/>
                    </a:ext>
                  </a:extLst>
                </a:gridCol>
                <a:gridCol w="1483995">
                  <a:extLst>
                    <a:ext uri="{9D8B030D-6E8A-4147-A177-3AD203B41FA5}">
                      <a16:colId xmlns:a16="http://schemas.microsoft.com/office/drawing/2014/main" val="3178592648"/>
                    </a:ext>
                  </a:extLst>
                </a:gridCol>
              </a:tblGrid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Concetto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Costrutto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Accessi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Tipo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221426"/>
                  </a:ext>
                </a:extLst>
              </a:tr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Utente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Entità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43354"/>
                  </a:ext>
                </a:extLst>
              </a:tr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Tratta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Entità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311966"/>
                  </a:ext>
                </a:extLst>
              </a:tr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Prenotazione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Entità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922257"/>
                  </a:ext>
                </a:extLst>
              </a:tr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Effettuare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Relazione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626168"/>
                  </a:ext>
                </a:extLst>
              </a:tr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Associare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Relazione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535388"/>
                  </a:ext>
                </a:extLst>
              </a:tr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Tratta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Entità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16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0616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7F8D7-6506-B637-6D2C-48F1E8DB2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CEA576-D7E0-3007-B2D1-30214A793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7AEBE10-B9A5-7CEB-B799-E83AAFF3F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Tavola degli accessi (Operazione n°2)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B3AE4C7E-2469-060B-3765-970705EC3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02EBBDD-BEE9-66EA-C79A-28F1A4A804E3}"/>
              </a:ext>
            </a:extLst>
          </p:cNvPr>
          <p:cNvSpPr txBox="1"/>
          <p:nvPr/>
        </p:nvSpPr>
        <p:spPr>
          <a:xfrm>
            <a:off x="630936" y="2537460"/>
            <a:ext cx="5294376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dirty="0"/>
              <a:t>Descrizione: Dato 1 tratta, devo trovare tutti i passeggeri (in media 20).</a:t>
            </a:r>
          </a:p>
          <a:p>
            <a:endParaRPr lang="it-IT" sz="2000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02C17904-1176-A0EB-7BCF-39A6837DE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885560"/>
              </p:ext>
            </p:extLst>
          </p:nvPr>
        </p:nvGraphicFramePr>
        <p:xfrm>
          <a:off x="5925312" y="2121408"/>
          <a:ext cx="5935980" cy="2734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995">
                  <a:extLst>
                    <a:ext uri="{9D8B030D-6E8A-4147-A177-3AD203B41FA5}">
                      <a16:colId xmlns:a16="http://schemas.microsoft.com/office/drawing/2014/main" val="3725989177"/>
                    </a:ext>
                  </a:extLst>
                </a:gridCol>
                <a:gridCol w="1483995">
                  <a:extLst>
                    <a:ext uri="{9D8B030D-6E8A-4147-A177-3AD203B41FA5}">
                      <a16:colId xmlns:a16="http://schemas.microsoft.com/office/drawing/2014/main" val="2164924525"/>
                    </a:ext>
                  </a:extLst>
                </a:gridCol>
                <a:gridCol w="1483995">
                  <a:extLst>
                    <a:ext uri="{9D8B030D-6E8A-4147-A177-3AD203B41FA5}">
                      <a16:colId xmlns:a16="http://schemas.microsoft.com/office/drawing/2014/main" val="3065051780"/>
                    </a:ext>
                  </a:extLst>
                </a:gridCol>
                <a:gridCol w="1483995">
                  <a:extLst>
                    <a:ext uri="{9D8B030D-6E8A-4147-A177-3AD203B41FA5}">
                      <a16:colId xmlns:a16="http://schemas.microsoft.com/office/drawing/2014/main" val="3178592648"/>
                    </a:ext>
                  </a:extLst>
                </a:gridCol>
              </a:tblGrid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Concetto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Costrutto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Accessi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Tipo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221426"/>
                  </a:ext>
                </a:extLst>
              </a:tr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Tratta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Entità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43354"/>
                  </a:ext>
                </a:extLst>
              </a:tr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Associare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Relazione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311966"/>
                  </a:ext>
                </a:extLst>
              </a:tr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Prenotazione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Entità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922257"/>
                  </a:ext>
                </a:extLst>
              </a:tr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Effettuare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Relazione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626168"/>
                  </a:ext>
                </a:extLst>
              </a:tr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Utente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Entità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535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333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449CF4-BAFB-7474-E2D6-67172B407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DC27B00-2DE2-5A78-2FEF-95A1B6B56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73C67F1-F116-2FFF-B8A5-243149A0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Tavola degli accessi (Operazione n°3)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AFCB463A-019B-51CC-0AB3-2D62AD020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D2776E0-DCD1-BEC0-512C-EE37F33E1C0B}"/>
              </a:ext>
            </a:extLst>
          </p:cNvPr>
          <p:cNvSpPr txBox="1"/>
          <p:nvPr/>
        </p:nvSpPr>
        <p:spPr>
          <a:xfrm>
            <a:off x="393192" y="2455164"/>
            <a:ext cx="5294376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it-IT" sz="2400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E67D3974-C190-2EB2-A87E-E24729700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758113"/>
              </p:ext>
            </p:extLst>
          </p:nvPr>
        </p:nvGraphicFramePr>
        <p:xfrm>
          <a:off x="5925312" y="2121408"/>
          <a:ext cx="5935980" cy="182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995">
                  <a:extLst>
                    <a:ext uri="{9D8B030D-6E8A-4147-A177-3AD203B41FA5}">
                      <a16:colId xmlns:a16="http://schemas.microsoft.com/office/drawing/2014/main" val="3725989177"/>
                    </a:ext>
                  </a:extLst>
                </a:gridCol>
                <a:gridCol w="1483995">
                  <a:extLst>
                    <a:ext uri="{9D8B030D-6E8A-4147-A177-3AD203B41FA5}">
                      <a16:colId xmlns:a16="http://schemas.microsoft.com/office/drawing/2014/main" val="2164924525"/>
                    </a:ext>
                  </a:extLst>
                </a:gridCol>
                <a:gridCol w="1483995">
                  <a:extLst>
                    <a:ext uri="{9D8B030D-6E8A-4147-A177-3AD203B41FA5}">
                      <a16:colId xmlns:a16="http://schemas.microsoft.com/office/drawing/2014/main" val="3065051780"/>
                    </a:ext>
                  </a:extLst>
                </a:gridCol>
                <a:gridCol w="1483995">
                  <a:extLst>
                    <a:ext uri="{9D8B030D-6E8A-4147-A177-3AD203B41FA5}">
                      <a16:colId xmlns:a16="http://schemas.microsoft.com/office/drawing/2014/main" val="3178592648"/>
                    </a:ext>
                  </a:extLst>
                </a:gridCol>
              </a:tblGrid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Concetto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Costrutto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Accessi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Tipo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221426"/>
                  </a:ext>
                </a:extLst>
              </a:tr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Controllare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Relazione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311966"/>
                  </a:ext>
                </a:extLst>
              </a:tr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Prenotazione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Entità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922257"/>
                  </a:ext>
                </a:extLst>
              </a:tr>
              <a:tr h="455676">
                <a:tc>
                  <a:txBody>
                    <a:bodyPr/>
                    <a:lstStyle/>
                    <a:p>
                      <a:r>
                        <a:rPr lang="it-IT" dirty="0"/>
                        <a:t>Controllore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Entità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626168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600B0EC5-C126-BAA1-D124-590CA2459400}"/>
              </a:ext>
            </a:extLst>
          </p:cNvPr>
          <p:cNvSpPr txBox="1"/>
          <p:nvPr/>
        </p:nvSpPr>
        <p:spPr>
          <a:xfrm>
            <a:off x="643278" y="2608855"/>
            <a:ext cx="49513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Descrizione: Leggere i controlli effettuati (stimiamo circa 20 controlli al giorno).</a:t>
            </a:r>
          </a:p>
        </p:txBody>
      </p:sp>
    </p:spTree>
    <p:extLst>
      <p:ext uri="{BB962C8B-B14F-4D97-AF65-F5344CB8AC3E}">
        <p14:creationId xmlns:p14="http://schemas.microsoft.com/office/powerpoint/2010/main" val="415439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792C41A-BFDB-4632-B8EE-95B6D6087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it-IT" sz="4000" b="1" dirty="0"/>
              <a:t>Schema Logico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74F431-7A9F-0995-AE30-70C15B541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  <a:buNone/>
            </a:pPr>
            <a:r>
              <a:rPr lang="it-IT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UTENTE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it-IT" sz="16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IDUtente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Nome, Cognome, Via, CAP, Città, NumeroCivico, DataRegistrazione, Email)</a:t>
            </a:r>
          </a:p>
          <a:p>
            <a:pPr>
              <a:spcAft>
                <a:spcPts val="800"/>
              </a:spcAft>
              <a:buNone/>
            </a:pPr>
            <a:r>
              <a:rPr lang="it-IT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TELEFONO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it-IT" sz="16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Numero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it-IT" sz="16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Utente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ts val="800"/>
              </a:spcAft>
              <a:buNone/>
            </a:pPr>
            <a:r>
              <a:rPr lang="it-IT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PRENOTAZIONE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it-IT" sz="16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IDPrenotazione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DataPrenotazione, </a:t>
            </a:r>
            <a:r>
              <a:rPr lang="it-IT" sz="16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Utente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it-IT" sz="16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Tratta, Controllore*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DataControllo*, EsitoControllo*)</a:t>
            </a:r>
          </a:p>
          <a:p>
            <a:pPr>
              <a:spcAft>
                <a:spcPts val="800"/>
              </a:spcAft>
              <a:buNone/>
            </a:pPr>
            <a:r>
              <a:rPr lang="it-IT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CONTROLLORE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it-IT" sz="16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IDPersonale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Nome, Cognome)</a:t>
            </a:r>
          </a:p>
          <a:p>
            <a:pPr>
              <a:spcAft>
                <a:spcPts val="800"/>
              </a:spcAft>
              <a:buNone/>
            </a:pPr>
            <a:r>
              <a:rPr lang="it-IT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TRATTA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it-IT" sz="16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IDTratta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Data, OrarioPartenza, OrarioArrivo, Partenza, Arrivo, NumeroPostiDisponibili, </a:t>
            </a:r>
            <a:r>
              <a:rPr lang="it-IT" sz="16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ts val="800"/>
              </a:spcAft>
              <a:buNone/>
            </a:pPr>
            <a:r>
              <a:rPr lang="it-IT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it-IT" sz="16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CodiceBus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Azienda, Capacità)</a:t>
            </a:r>
          </a:p>
          <a:p>
            <a:pPr>
              <a:spcAft>
                <a:spcPts val="800"/>
              </a:spcAft>
              <a:buNone/>
            </a:pPr>
            <a:r>
              <a:rPr lang="it-IT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GUIDARE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it-IT" sz="1600" i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</a:t>
            </a:r>
            <a:r>
              <a:rPr lang="it-IT" sz="16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it-IT" sz="1600" i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Autista, </a:t>
            </a:r>
            <a:r>
              <a:rPr lang="it-IT" sz="16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ts val="800"/>
              </a:spcAft>
              <a:buNone/>
            </a:pPr>
            <a:r>
              <a:rPr lang="it-IT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AUTISTA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it-IT" sz="16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IDPersonale</a:t>
            </a:r>
            <a:r>
              <a:rPr lang="it-IT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Nome, Cognome, NumeroPatente)</a:t>
            </a:r>
          </a:p>
        </p:txBody>
      </p:sp>
    </p:spTree>
    <p:extLst>
      <p:ext uri="{BB962C8B-B14F-4D97-AF65-F5344CB8AC3E}">
        <p14:creationId xmlns:p14="http://schemas.microsoft.com/office/powerpoint/2010/main" val="2619589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12B1AFC-5284-AAA6-563C-D4A2DDDFE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it-IT" sz="4000" b="1" dirty="0"/>
              <a:t>Vincoli di Integrità Referenziale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19287D-4543-F033-2D65-F8380FFB1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6677" y="614934"/>
            <a:ext cx="6626787" cy="561898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it-IT" sz="1600" dirty="0"/>
              <a:t>TELEFONO (Utente) referenzia UTENTE (IDUtente)</a:t>
            </a:r>
          </a:p>
          <a:p>
            <a:pPr>
              <a:lnSpc>
                <a:spcPct val="150000"/>
              </a:lnSpc>
            </a:pPr>
            <a:r>
              <a:rPr lang="it-IT" sz="1600" dirty="0"/>
              <a:t>GUIDARE (Bus) referenzia BUS (CodiceBus)</a:t>
            </a:r>
          </a:p>
          <a:p>
            <a:pPr>
              <a:lnSpc>
                <a:spcPct val="150000"/>
              </a:lnSpc>
            </a:pPr>
            <a:r>
              <a:rPr lang="it-IT" sz="1600" dirty="0"/>
              <a:t>GUIDARE (Autista) referenzia AUTISTA (IDPersonale)</a:t>
            </a:r>
          </a:p>
          <a:p>
            <a:pPr>
              <a:lnSpc>
                <a:spcPct val="150000"/>
              </a:lnSpc>
            </a:pPr>
            <a:r>
              <a:rPr lang="it-IT" sz="1600" dirty="0"/>
              <a:t>TRATTA (Bus) referenzia BUS (CodiceBus)</a:t>
            </a:r>
          </a:p>
          <a:p>
            <a:pPr>
              <a:lnSpc>
                <a:spcPct val="150000"/>
              </a:lnSpc>
            </a:pPr>
            <a:r>
              <a:rPr lang="it-IT" sz="1600" dirty="0"/>
              <a:t>PRENOTAZIONE (Utente) referenzia UTENTE (IDUtente)</a:t>
            </a:r>
          </a:p>
          <a:p>
            <a:pPr>
              <a:lnSpc>
                <a:spcPct val="150000"/>
              </a:lnSpc>
            </a:pPr>
            <a:r>
              <a:rPr lang="it-IT" sz="1600" dirty="0"/>
              <a:t>PRENOTAZIONE (Tratta) referenzia TRATTA (IDTratta)</a:t>
            </a:r>
          </a:p>
          <a:p>
            <a:pPr>
              <a:lnSpc>
                <a:spcPct val="150000"/>
              </a:lnSpc>
            </a:pPr>
            <a:r>
              <a:rPr lang="it-IT" sz="1600" dirty="0"/>
              <a:t>PRENOTAZIONE (Controllore) referenzia CONTROLLORE (IDPersonale)</a:t>
            </a:r>
          </a:p>
        </p:txBody>
      </p:sp>
    </p:spTree>
    <p:extLst>
      <p:ext uri="{BB962C8B-B14F-4D97-AF65-F5344CB8AC3E}">
        <p14:creationId xmlns:p14="http://schemas.microsoft.com/office/powerpoint/2010/main" val="466527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E79AEF-18E7-535C-A2D4-02EE4C590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32" y="147994"/>
            <a:ext cx="1712976" cy="960755"/>
          </a:xfrm>
        </p:spPr>
        <p:txBody>
          <a:bodyPr>
            <a:normAutofit/>
          </a:bodyPr>
          <a:lstStyle/>
          <a:p>
            <a:r>
              <a:rPr lang="it-IT" sz="6000" b="1" dirty="0"/>
              <a:t>SQL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06C4E54-BA0F-141F-814D-230028AD0BE2}"/>
              </a:ext>
            </a:extLst>
          </p:cNvPr>
          <p:cNvSpPr txBox="1"/>
          <p:nvPr/>
        </p:nvSpPr>
        <p:spPr>
          <a:xfrm>
            <a:off x="408432" y="982365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>
                <a:latin typeface="+mj-lt"/>
              </a:rPr>
              <a:t>DATA DEFINITION LANGUAGE</a:t>
            </a:r>
          </a:p>
        </p:txBody>
      </p:sp>
      <p:pic>
        <p:nvPicPr>
          <p:cNvPr id="4" name="Immagine 3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1C1B9B46-2466-A8FE-663E-391DAAA1E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20" y="1517005"/>
            <a:ext cx="3871295" cy="3147333"/>
          </a:xfrm>
          <a:prstGeom prst="rect">
            <a:avLst/>
          </a:prstGeom>
        </p:spPr>
      </p:pic>
      <p:pic>
        <p:nvPicPr>
          <p:cNvPr id="7" name="Immagine 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335F751A-26AE-04F9-9EA7-A09C9F2F7F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424"/>
          <a:stretch>
            <a:fillRect/>
          </a:stretch>
        </p:blipFill>
        <p:spPr>
          <a:xfrm>
            <a:off x="326136" y="4798868"/>
            <a:ext cx="4397121" cy="1611076"/>
          </a:xfrm>
          <a:prstGeom prst="rect">
            <a:avLst/>
          </a:prstGeom>
        </p:spPr>
      </p:pic>
      <p:pic>
        <p:nvPicPr>
          <p:cNvPr id="9" name="Immagine 8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2FB3FCC8-BE4D-F8C1-F904-F9B3A32C49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424"/>
          <a:stretch>
            <a:fillRect/>
          </a:stretch>
        </p:blipFill>
        <p:spPr>
          <a:xfrm>
            <a:off x="5744527" y="1517005"/>
            <a:ext cx="4397121" cy="1611076"/>
          </a:xfrm>
          <a:prstGeom prst="rect">
            <a:avLst/>
          </a:prstGeom>
        </p:spPr>
      </p:pic>
      <p:pic>
        <p:nvPicPr>
          <p:cNvPr id="11" name="Immagine 10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AAD36CB2-55F1-9EDA-7D6C-6DD8DA903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796" y="3189740"/>
            <a:ext cx="3909399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46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25C5-775C-53FF-C3B2-B0D7EAA04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ABDCE0-A42E-946B-B969-B26BCDCC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32" y="147994"/>
            <a:ext cx="1712976" cy="960755"/>
          </a:xfrm>
        </p:spPr>
        <p:txBody>
          <a:bodyPr>
            <a:normAutofit/>
          </a:bodyPr>
          <a:lstStyle/>
          <a:p>
            <a:r>
              <a:rPr lang="it-IT" sz="6000" b="1"/>
              <a:t>SQL</a:t>
            </a:r>
            <a:endParaRPr lang="it-IT" sz="6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AB8C07D-E5D9-E375-75C2-50CC88DAF9F0}"/>
              </a:ext>
            </a:extLst>
          </p:cNvPr>
          <p:cNvSpPr txBox="1"/>
          <p:nvPr/>
        </p:nvSpPr>
        <p:spPr>
          <a:xfrm>
            <a:off x="408432" y="982365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>
                <a:latin typeface="+mj-lt"/>
              </a:rPr>
              <a:t>DATA DEFINITION LANGUAGE</a:t>
            </a:r>
            <a:endParaRPr lang="it-IT" sz="2000" b="1" dirty="0">
              <a:latin typeface="+mj-lt"/>
            </a:endParaRPr>
          </a:p>
        </p:txBody>
      </p:sp>
      <p:pic>
        <p:nvPicPr>
          <p:cNvPr id="4" name="Immagine 3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1A714DB7-76A6-A941-75A9-1418EE0D1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32" y="1418713"/>
            <a:ext cx="3734124" cy="2606266"/>
          </a:xfrm>
          <a:prstGeom prst="rect">
            <a:avLst/>
          </a:prstGeom>
        </p:spPr>
      </p:pic>
      <p:pic>
        <p:nvPicPr>
          <p:cNvPr id="7" name="Immagine 6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1576490E-7889-69EF-F864-42AD21068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57" y="4024979"/>
            <a:ext cx="5334462" cy="2796782"/>
          </a:xfrm>
          <a:prstGeom prst="rect">
            <a:avLst/>
          </a:prstGeom>
        </p:spPr>
      </p:pic>
      <p:pic>
        <p:nvPicPr>
          <p:cNvPr id="9" name="Immagine 8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0DCBFA18-05A9-605C-5A80-CC255832D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719" y="1382475"/>
            <a:ext cx="5685013" cy="18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94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72B58-2FD0-321F-CEAF-F68D4F12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68EC1E-7369-FA82-D1B9-5F4790D6E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32" y="147994"/>
            <a:ext cx="1712976" cy="960755"/>
          </a:xfrm>
        </p:spPr>
        <p:txBody>
          <a:bodyPr>
            <a:normAutofit/>
          </a:bodyPr>
          <a:lstStyle/>
          <a:p>
            <a:r>
              <a:rPr lang="it-IT" sz="6000" b="1"/>
              <a:t>SQL</a:t>
            </a:r>
            <a:endParaRPr lang="it-IT" sz="6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A262555-2445-97B8-7781-72BD99B13594}"/>
              </a:ext>
            </a:extLst>
          </p:cNvPr>
          <p:cNvSpPr txBox="1"/>
          <p:nvPr/>
        </p:nvSpPr>
        <p:spPr>
          <a:xfrm>
            <a:off x="408432" y="982365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>
                <a:latin typeface="+mj-lt"/>
              </a:rPr>
              <a:t>DATA MANIPULATION LANGUAGE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3D8486F2-62E5-2B2F-6EFF-C46BE3078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32" y="1501347"/>
            <a:ext cx="6866215" cy="350550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41A2FE74-29C7-59B6-E16E-DD7AB4137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32" y="2041726"/>
            <a:ext cx="3947502" cy="434378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83D36E88-6BA3-81A7-26FB-2C1265438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32" y="2682625"/>
            <a:ext cx="5319221" cy="396274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A53A5DC0-CE17-5E1D-BDA7-B7CF31FD6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432" y="3231312"/>
            <a:ext cx="4625741" cy="396274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A685CBAB-B64A-2398-031A-409B1C921B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576" y="3822356"/>
            <a:ext cx="4206605" cy="396274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BEAC6BC9-4E03-9D29-0C2A-56EB2D88F5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576" y="4325612"/>
            <a:ext cx="3795089" cy="419136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0C1A1654-AC18-A73E-0257-5A546823ED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576" y="4870142"/>
            <a:ext cx="8466554" cy="365792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4208E039-EAC3-B7DB-0B18-5F9EA3ED25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432" y="5396260"/>
            <a:ext cx="6690940" cy="396274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9BF4EBAA-AE36-CC4B-1F25-8410751E40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576" y="5944946"/>
            <a:ext cx="3985605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97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F6364-5D18-6419-B096-D19DE9369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1F58DA-86C3-99EB-DD4E-F0032BF2A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32" y="147994"/>
            <a:ext cx="1712976" cy="960755"/>
          </a:xfrm>
        </p:spPr>
        <p:txBody>
          <a:bodyPr>
            <a:normAutofit/>
          </a:bodyPr>
          <a:lstStyle/>
          <a:p>
            <a:r>
              <a:rPr lang="it-IT" sz="6000" b="1"/>
              <a:t>SQL</a:t>
            </a:r>
            <a:endParaRPr lang="it-IT" sz="6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142EF44-3FAB-D6F6-BE87-23594D6454A0}"/>
              </a:ext>
            </a:extLst>
          </p:cNvPr>
          <p:cNvSpPr txBox="1"/>
          <p:nvPr/>
        </p:nvSpPr>
        <p:spPr>
          <a:xfrm>
            <a:off x="408432" y="982365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>
                <a:latin typeface="+mj-lt"/>
              </a:rPr>
              <a:t>QUERY LANGUAGE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4EC68C6-07D5-2667-A5CD-BDD233D0E686}"/>
              </a:ext>
            </a:extLst>
          </p:cNvPr>
          <p:cNvSpPr txBox="1"/>
          <p:nvPr/>
        </p:nvSpPr>
        <p:spPr>
          <a:xfrm>
            <a:off x="408432" y="1382475"/>
            <a:ext cx="885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bg2">
                    <a:lumMod val="50000"/>
                  </a:schemeClr>
                </a:solidFill>
              </a:rPr>
              <a:t>Query 1</a:t>
            </a:r>
            <a:r>
              <a:rPr lang="it-IT" dirty="0"/>
              <a:t>: Una selezione ordinata su un attributo di una tabella con condizioni AND e OR:</a:t>
            </a:r>
          </a:p>
        </p:txBody>
      </p:sp>
      <p:pic>
        <p:nvPicPr>
          <p:cNvPr id="7" name="Immagine 6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F8E58C18-432A-F1A7-896C-120FE02F9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32" y="1751807"/>
            <a:ext cx="5547841" cy="77730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E26FCD-A4DE-AEDB-F689-E69A6BB12743}"/>
              </a:ext>
            </a:extLst>
          </p:cNvPr>
          <p:cNvSpPr txBox="1"/>
          <p:nvPr/>
        </p:nvSpPr>
        <p:spPr>
          <a:xfrm>
            <a:off x="408432" y="2529114"/>
            <a:ext cx="885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bg2">
                    <a:lumMod val="50000"/>
                  </a:schemeClr>
                </a:solidFill>
              </a:rPr>
              <a:t>Query 2</a:t>
            </a:r>
            <a:r>
              <a:rPr lang="it-IT" dirty="0"/>
              <a:t>: Una selezione su due o più tabelle con condizioni:</a:t>
            </a:r>
          </a:p>
        </p:txBody>
      </p:sp>
      <p:pic>
        <p:nvPicPr>
          <p:cNvPr id="10" name="Immagine 9" descr="Immagine che contiene testo, Carattere, schermata, algebra&#10;&#10;Il contenuto generato dall'IA potrebbe non essere corretto.">
            <a:extLst>
              <a:ext uri="{FF2B5EF4-FFF2-40B4-BE49-F238E27FC236}">
                <a16:creationId xmlns:a16="http://schemas.microsoft.com/office/drawing/2014/main" id="{D2FF6815-114A-9935-9D86-C67BDD1FB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13" y="2898446"/>
            <a:ext cx="4282811" cy="100592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3714FB9-090F-2AF9-620B-76069706B421}"/>
              </a:ext>
            </a:extLst>
          </p:cNvPr>
          <p:cNvSpPr txBox="1"/>
          <p:nvPr/>
        </p:nvSpPr>
        <p:spPr>
          <a:xfrm>
            <a:off x="408432" y="3959555"/>
            <a:ext cx="885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bg2">
                    <a:lumMod val="50000"/>
                  </a:schemeClr>
                </a:solidFill>
              </a:rPr>
              <a:t>Query 3</a:t>
            </a:r>
            <a:r>
              <a:rPr lang="it-IT" dirty="0"/>
              <a:t>: Una selezione aggregata su tutti i valori:</a:t>
            </a:r>
          </a:p>
        </p:txBody>
      </p:sp>
      <p:pic>
        <p:nvPicPr>
          <p:cNvPr id="13" name="Immagine 12" descr="Immagine che contiene testo, Carattere, bianco, tipografia&#10;&#10;Il contenuto generato dall'IA potrebbe non essere corretto.">
            <a:extLst>
              <a:ext uri="{FF2B5EF4-FFF2-40B4-BE49-F238E27FC236}">
                <a16:creationId xmlns:a16="http://schemas.microsoft.com/office/drawing/2014/main" id="{F4050E98-45E2-6795-1D17-25F28D2C9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32" y="4384069"/>
            <a:ext cx="2705334" cy="441998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A5DA906-BE1B-17EF-D1CC-CD8D630246AA}"/>
              </a:ext>
            </a:extLst>
          </p:cNvPr>
          <p:cNvSpPr txBox="1"/>
          <p:nvPr/>
        </p:nvSpPr>
        <p:spPr>
          <a:xfrm>
            <a:off x="408432" y="4826067"/>
            <a:ext cx="885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bg2">
                    <a:lumMod val="50000"/>
                  </a:schemeClr>
                </a:solidFill>
              </a:rPr>
              <a:t>Query 4</a:t>
            </a:r>
            <a:r>
              <a:rPr lang="it-IT" dirty="0"/>
              <a:t>: Una selezione aggregata su raggruppamenti:</a:t>
            </a:r>
          </a:p>
        </p:txBody>
      </p:sp>
      <p:pic>
        <p:nvPicPr>
          <p:cNvPr id="16" name="Immagine 15" descr="Immagine che contiene testo, Carattere, schermata, bianco&#10;&#10;Il contenuto generato dall'IA potrebbe non essere corretto.">
            <a:extLst>
              <a:ext uri="{FF2B5EF4-FFF2-40B4-BE49-F238E27FC236}">
                <a16:creationId xmlns:a16="http://schemas.microsoft.com/office/drawing/2014/main" id="{BE6D719D-2407-8236-375A-98E1F1E3B2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432" y="5197371"/>
            <a:ext cx="2842506" cy="55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137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DA6F-17D6-E130-E3CB-61B7CDF3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211C0D-4B9B-E152-AFED-A5066F83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32" y="147994"/>
            <a:ext cx="1712976" cy="960755"/>
          </a:xfrm>
        </p:spPr>
        <p:txBody>
          <a:bodyPr>
            <a:normAutofit/>
          </a:bodyPr>
          <a:lstStyle/>
          <a:p>
            <a:r>
              <a:rPr lang="it-IT" sz="6000" b="1"/>
              <a:t>SQL</a:t>
            </a:r>
            <a:endParaRPr lang="it-IT" sz="6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09BED7A-2B59-D2B5-9F22-9A74383A24B3}"/>
              </a:ext>
            </a:extLst>
          </p:cNvPr>
          <p:cNvSpPr txBox="1"/>
          <p:nvPr/>
        </p:nvSpPr>
        <p:spPr>
          <a:xfrm>
            <a:off x="408432" y="982365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>
                <a:latin typeface="+mj-lt"/>
              </a:rPr>
              <a:t>QUERY LANGUAGE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148EE4C-4EFC-1118-F4BA-32F5C2B6EBA0}"/>
              </a:ext>
            </a:extLst>
          </p:cNvPr>
          <p:cNvSpPr txBox="1"/>
          <p:nvPr/>
        </p:nvSpPr>
        <p:spPr>
          <a:xfrm>
            <a:off x="408432" y="1382475"/>
            <a:ext cx="885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bg2">
                    <a:lumMod val="50000"/>
                  </a:schemeClr>
                </a:solidFill>
              </a:rPr>
              <a:t>Query 5</a:t>
            </a:r>
            <a:r>
              <a:rPr lang="it-IT" dirty="0"/>
              <a:t>: Una selezione aggregata su raggruppamenti con condizioni:</a:t>
            </a:r>
          </a:p>
        </p:txBody>
      </p:sp>
      <p:pic>
        <p:nvPicPr>
          <p:cNvPr id="6" name="Immagine 5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5D343323-9CC4-F8BC-7E77-D1F7198B8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32" y="1751807"/>
            <a:ext cx="5349704" cy="998307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A8AC237-5FFA-3391-EF0C-5473B045244A}"/>
              </a:ext>
            </a:extLst>
          </p:cNvPr>
          <p:cNvSpPr txBox="1"/>
          <p:nvPr/>
        </p:nvSpPr>
        <p:spPr>
          <a:xfrm>
            <a:off x="408432" y="2750114"/>
            <a:ext cx="8858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bg2">
                    <a:lumMod val="50000"/>
                  </a:schemeClr>
                </a:solidFill>
              </a:rPr>
              <a:t>Query 6</a:t>
            </a:r>
            <a:r>
              <a:rPr lang="it-IT" dirty="0"/>
              <a:t>: Una selezione aggregata su raggruppamenti con condizioni che includano un’altra funzione di raggruppamento:</a:t>
            </a:r>
          </a:p>
        </p:txBody>
      </p:sp>
      <p:pic>
        <p:nvPicPr>
          <p:cNvPr id="9" name="Immagine 8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3C206EDC-4EC1-F9F5-7193-F945D026B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32" y="3396445"/>
            <a:ext cx="4762913" cy="24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52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60623-59FE-1281-E5E3-FBB6283B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AEAFE8-393A-EF4D-1502-8976FE931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32" y="147994"/>
            <a:ext cx="1712976" cy="960755"/>
          </a:xfrm>
        </p:spPr>
        <p:txBody>
          <a:bodyPr>
            <a:normAutofit/>
          </a:bodyPr>
          <a:lstStyle/>
          <a:p>
            <a:r>
              <a:rPr lang="it-IT" sz="6000" b="1"/>
              <a:t>SQL</a:t>
            </a:r>
            <a:endParaRPr lang="it-IT" sz="6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89B67B4-9AEE-1597-17E2-8A6B7AEB274C}"/>
              </a:ext>
            </a:extLst>
          </p:cNvPr>
          <p:cNvSpPr txBox="1"/>
          <p:nvPr/>
        </p:nvSpPr>
        <p:spPr>
          <a:xfrm>
            <a:off x="408432" y="982365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>
                <a:latin typeface="+mj-lt"/>
              </a:rPr>
              <a:t>QUERY LANGUAGE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710FE86-7115-7032-B8A4-656D2C02A887}"/>
              </a:ext>
            </a:extLst>
          </p:cNvPr>
          <p:cNvSpPr txBox="1"/>
          <p:nvPr/>
        </p:nvSpPr>
        <p:spPr>
          <a:xfrm>
            <a:off x="408432" y="1382475"/>
            <a:ext cx="885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bg2">
                    <a:lumMod val="50000"/>
                  </a:schemeClr>
                </a:solidFill>
              </a:rPr>
              <a:t>Query 7</a:t>
            </a:r>
            <a:r>
              <a:rPr lang="it-IT" dirty="0"/>
              <a:t>: Una selezione con operazioni insiemistiche: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8066255-FAF8-0A95-47EC-A7DEE400C5EF}"/>
              </a:ext>
            </a:extLst>
          </p:cNvPr>
          <p:cNvSpPr txBox="1"/>
          <p:nvPr/>
        </p:nvSpPr>
        <p:spPr>
          <a:xfrm>
            <a:off x="408432" y="3721748"/>
            <a:ext cx="885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bg2">
                    <a:lumMod val="50000"/>
                  </a:schemeClr>
                </a:solidFill>
              </a:rPr>
              <a:t>Query 8.1 e 8.2</a:t>
            </a:r>
            <a:r>
              <a:rPr lang="it-IT" dirty="0"/>
              <a:t>: Una selezione con l’uso appropriato della divisione:</a:t>
            </a:r>
          </a:p>
        </p:txBody>
      </p:sp>
      <p:pic>
        <p:nvPicPr>
          <p:cNvPr id="8" name="Immagine 7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4FC1B886-CC09-1B94-0C49-2BB3F75F0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32" y="1751807"/>
            <a:ext cx="3627434" cy="2019475"/>
          </a:xfrm>
          <a:prstGeom prst="rect">
            <a:avLst/>
          </a:prstGeom>
        </p:spPr>
      </p:pic>
      <p:pic>
        <p:nvPicPr>
          <p:cNvPr id="11" name="Immagine 10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3C526D3E-6E7A-57AE-D2B7-BF5EE1287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32" y="4068838"/>
            <a:ext cx="3749365" cy="2789162"/>
          </a:xfrm>
          <a:prstGeom prst="rect">
            <a:avLst/>
          </a:prstGeom>
        </p:spPr>
      </p:pic>
      <p:pic>
        <p:nvPicPr>
          <p:cNvPr id="13" name="Immagine 12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2589E519-33B9-8FA7-46DB-DED5D6381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908" y="4091080"/>
            <a:ext cx="3970364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8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B7E7D8E-4A01-68CF-26B9-E3685560D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138164"/>
            <a:ext cx="9357865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Interfaccia di </a:t>
            </a:r>
            <a:r>
              <a:rPr lang="en-US" sz="4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Gestione</a:t>
            </a: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Operativa</a:t>
            </a: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(GUI)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3BFDB1-FFE1-BB2D-A238-EED103092C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2656" y="3197901"/>
            <a:ext cx="7224265" cy="2215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it-IT" sz="2000" b="0" i="0" u="none" strike="noStrike" cap="none" normalizeH="0" baseline="0" dirty="0" err="1">
                <a:ln>
                  <a:noFill/>
                </a:ln>
                <a:effectLst/>
              </a:rPr>
              <a:t>Sviluppata</a:t>
            </a:r>
            <a:r>
              <a:rPr kumimoji="0" lang="en-US" altLang="it-IT" sz="2000" b="0" i="0" u="none" strike="noStrike" cap="none" normalizeH="0" baseline="0" dirty="0">
                <a:ln>
                  <a:noFill/>
                </a:ln>
                <a:effectLst/>
              </a:rPr>
              <a:t> in Java Swing con driver JDBC.</a:t>
            </a: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it-IT" sz="2000" b="0" i="0" u="none" strike="noStrike" cap="none" normalizeH="0" baseline="0" dirty="0" err="1">
                <a:ln>
                  <a:noFill/>
                </a:ln>
                <a:effectLst/>
              </a:rPr>
              <a:t>Gestione</a:t>
            </a:r>
            <a:r>
              <a:rPr kumimoji="0" lang="en-US" altLang="it-IT" sz="2000" b="0" i="0" u="none" strike="noStrike" cap="none" normalizeH="0" baseline="0" dirty="0">
                <a:ln>
                  <a:noFill/>
                </a:ln>
                <a:effectLst/>
              </a:rPr>
              <a:t> del </a:t>
            </a:r>
            <a:r>
              <a:rPr kumimoji="0" lang="en-US" altLang="it-IT" sz="2000" b="0" i="0" u="none" strike="noStrike" cap="none" normalizeH="0" baseline="0" dirty="0" err="1">
                <a:ln>
                  <a:noFill/>
                </a:ln>
                <a:effectLst/>
              </a:rPr>
              <a:t>ciclo</a:t>
            </a:r>
            <a:r>
              <a:rPr kumimoji="0" lang="en-US" altLang="it-IT" sz="2000" b="0" i="0" u="none" strike="noStrike" cap="none" normalizeH="0" baseline="0" dirty="0">
                <a:ln>
                  <a:noFill/>
                </a:ln>
                <a:effectLst/>
              </a:rPr>
              <a:t> di vita </a:t>
            </a:r>
            <a:r>
              <a:rPr kumimoji="0" lang="en-US" altLang="it-IT" sz="2000" b="0" i="0" u="none" strike="noStrike" cap="none" normalizeH="0" baseline="0" dirty="0" err="1">
                <a:ln>
                  <a:noFill/>
                </a:ln>
                <a:effectLst/>
              </a:rPr>
              <a:t>dei</a:t>
            </a:r>
            <a:r>
              <a:rPr kumimoji="0" lang="en-US" altLang="it-IT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2000" b="0" i="0" u="none" strike="noStrike" cap="none" normalizeH="0" baseline="0" dirty="0" err="1">
                <a:ln>
                  <a:noFill/>
                </a:ln>
                <a:effectLst/>
              </a:rPr>
              <a:t>dati</a:t>
            </a:r>
            <a:r>
              <a:rPr kumimoji="0" lang="en-US" altLang="it-IT" sz="2000" b="0" i="0" u="none" strike="noStrike" cap="none" normalizeH="0" baseline="0" dirty="0">
                <a:ln>
                  <a:noFill/>
                </a:ln>
                <a:effectLst/>
              </a:rPr>
              <a:t> (CRUD) </a:t>
            </a:r>
            <a:r>
              <a:rPr kumimoji="0" lang="en-US" altLang="it-IT" sz="2000" b="0" i="0" u="none" strike="noStrike" cap="none" normalizeH="0" baseline="0" dirty="0" err="1">
                <a:ln>
                  <a:noFill/>
                </a:ln>
                <a:effectLst/>
              </a:rPr>
              <a:t>sulla</a:t>
            </a:r>
            <a:r>
              <a:rPr kumimoji="0" lang="en-US" altLang="it-IT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2000" b="0" i="0" u="none" strike="noStrike" cap="none" normalizeH="0" baseline="0" dirty="0" err="1">
                <a:ln>
                  <a:noFill/>
                </a:ln>
                <a:effectLst/>
              </a:rPr>
              <a:t>tabella</a:t>
            </a:r>
            <a:r>
              <a:rPr kumimoji="0" lang="en-US" altLang="it-IT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2000" b="0" i="0" u="none" strike="noStrike" cap="none" normalizeH="0" baseline="0" dirty="0" err="1">
                <a:ln>
                  <a:noFill/>
                </a:ln>
                <a:effectLst/>
              </a:rPr>
              <a:t>Utenti</a:t>
            </a:r>
            <a:r>
              <a:rPr kumimoji="0" lang="en-US" altLang="it-IT" sz="20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it-IT" sz="2000" b="0" i="0" u="none" strike="noStrike" cap="none" normalizeH="0" baseline="0" dirty="0">
                <a:ln>
                  <a:noFill/>
                </a:ln>
                <a:effectLst/>
              </a:rPr>
              <a:t>Interfaccia </a:t>
            </a:r>
            <a:r>
              <a:rPr kumimoji="0" lang="en-US" altLang="it-IT" sz="2000" b="0" i="0" u="none" strike="noStrike" cap="none" normalizeH="0" baseline="0" dirty="0" err="1">
                <a:ln>
                  <a:noFill/>
                </a:ln>
                <a:effectLst/>
              </a:rPr>
              <a:t>intuitiva</a:t>
            </a:r>
            <a:r>
              <a:rPr kumimoji="0" lang="en-US" altLang="it-IT" sz="2000" b="0" i="0" u="none" strike="noStrike" cap="none" normalizeH="0" baseline="0" dirty="0">
                <a:ln>
                  <a:noFill/>
                </a:ln>
                <a:effectLst/>
              </a:rPr>
              <a:t> con </a:t>
            </a:r>
            <a:r>
              <a:rPr kumimoji="0" lang="en-US" altLang="it-IT" sz="2000" b="0" i="0" u="none" strike="noStrike" cap="none" normalizeH="0" baseline="0" dirty="0" err="1">
                <a:ln>
                  <a:noFill/>
                </a:ln>
                <a:effectLst/>
              </a:rPr>
              <a:t>finestre</a:t>
            </a:r>
            <a:r>
              <a:rPr kumimoji="0" lang="en-US" altLang="it-IT" sz="2000" b="0" i="0" u="none" strike="noStrike" cap="none" normalizeH="0" baseline="0" dirty="0">
                <a:ln>
                  <a:noFill/>
                </a:ln>
                <a:effectLst/>
              </a:rPr>
              <a:t> di </a:t>
            </a:r>
            <a:r>
              <a:rPr kumimoji="0" lang="en-US" altLang="it-IT" sz="2000" b="0" i="0" u="none" strike="noStrike" cap="none" normalizeH="0" baseline="0" dirty="0" err="1">
                <a:ln>
                  <a:noFill/>
                </a:ln>
                <a:effectLst/>
              </a:rPr>
              <a:t>dialogo</a:t>
            </a:r>
            <a:r>
              <a:rPr kumimoji="0" lang="en-US" altLang="it-IT" sz="20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it-IT" sz="2000" b="0" i="0" u="none" strike="noStrike" cap="none" normalizeH="0" baseline="0" dirty="0" err="1">
                <a:ln>
                  <a:noFill/>
                </a:ln>
                <a:effectLst/>
              </a:rPr>
              <a:t>Sincronizzazione</a:t>
            </a:r>
            <a:r>
              <a:rPr kumimoji="0" lang="en-US" altLang="it-IT" sz="2000" b="0" i="0" u="none" strike="noStrike" cap="none" normalizeH="0" baseline="0" dirty="0">
                <a:ln>
                  <a:noFill/>
                </a:ln>
                <a:effectLst/>
              </a:rPr>
              <a:t> con il database locale.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61A01A9-0153-F81C-375D-3ABC5968BBA2}"/>
              </a:ext>
            </a:extLst>
          </p:cNvPr>
          <p:cNvSpPr txBox="1"/>
          <p:nvPr/>
        </p:nvSpPr>
        <p:spPr>
          <a:xfrm>
            <a:off x="1452657" y="2204129"/>
            <a:ext cx="8859744" cy="1139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Per </a:t>
            </a:r>
            <a:r>
              <a:rPr lang="en-US" sz="2000" dirty="0" err="1"/>
              <a:t>soddisfare</a:t>
            </a:r>
            <a:r>
              <a:rPr lang="en-US" sz="2000" dirty="0"/>
              <a:t> la </a:t>
            </a:r>
            <a:r>
              <a:rPr lang="en-US" sz="2000" dirty="0" err="1"/>
              <a:t>richiesta</a:t>
            </a:r>
            <a:r>
              <a:rPr lang="en-US" sz="2000" dirty="0"/>
              <a:t> di </a:t>
            </a:r>
            <a:r>
              <a:rPr lang="en-US" sz="2000" dirty="0" err="1"/>
              <a:t>interazione</a:t>
            </a:r>
            <a:r>
              <a:rPr lang="en-US" sz="2000" dirty="0"/>
              <a:t> a run-time, </a:t>
            </a:r>
            <a:r>
              <a:rPr lang="en-US" sz="2000" dirty="0" err="1"/>
              <a:t>abbiamo</a:t>
            </a:r>
            <a:r>
              <a:rPr lang="en-US" sz="2000" dirty="0"/>
              <a:t> </a:t>
            </a:r>
            <a:r>
              <a:rPr lang="en-US" sz="2000" dirty="0" err="1"/>
              <a:t>sviluppato</a:t>
            </a:r>
            <a:r>
              <a:rPr lang="en-US" sz="2000" dirty="0"/>
              <a:t> </a:t>
            </a:r>
            <a:r>
              <a:rPr lang="en-US" sz="2000" dirty="0" err="1"/>
              <a:t>un'interfaccia</a:t>
            </a:r>
            <a:r>
              <a:rPr lang="en-US" sz="2000" dirty="0"/>
              <a:t> </a:t>
            </a:r>
            <a:r>
              <a:rPr lang="en-US" sz="2000" dirty="0" err="1"/>
              <a:t>grafica</a:t>
            </a:r>
            <a:r>
              <a:rPr lang="en-US" sz="2000" dirty="0"/>
              <a:t> in Java Swing </a:t>
            </a:r>
            <a:r>
              <a:rPr lang="en-US" sz="2000" dirty="0" err="1"/>
              <a:t>che</a:t>
            </a:r>
            <a:r>
              <a:rPr lang="en-US" sz="2000" dirty="0"/>
              <a:t> </a:t>
            </a:r>
            <a:r>
              <a:rPr lang="en-US" sz="2000" dirty="0" err="1"/>
              <a:t>permette</a:t>
            </a:r>
            <a:r>
              <a:rPr lang="en-US" sz="2000" dirty="0"/>
              <a:t> di </a:t>
            </a:r>
            <a:r>
              <a:rPr lang="en-US" sz="2000" dirty="0" err="1"/>
              <a:t>gestire</a:t>
            </a:r>
            <a:r>
              <a:rPr lang="en-US" sz="2000" dirty="0"/>
              <a:t> </a:t>
            </a:r>
            <a:r>
              <a:rPr lang="en-US" sz="2000" dirty="0" err="1"/>
              <a:t>l'anagrafica</a:t>
            </a:r>
            <a:r>
              <a:rPr lang="en-US" sz="2000" dirty="0"/>
              <a:t> </a:t>
            </a:r>
            <a:r>
              <a:rPr lang="en-US" sz="2000" dirty="0" err="1"/>
              <a:t>utenti</a:t>
            </a:r>
            <a:r>
              <a:rPr lang="en-US" sz="2000" dirty="0"/>
              <a:t> senza </a:t>
            </a:r>
            <a:r>
              <a:rPr lang="en-US" sz="2000" dirty="0" err="1"/>
              <a:t>interagire</a:t>
            </a:r>
            <a:r>
              <a:rPr lang="en-US" sz="2000" dirty="0"/>
              <a:t> </a:t>
            </a:r>
            <a:r>
              <a:rPr lang="en-US" sz="2000" dirty="0" err="1"/>
              <a:t>direttamente</a:t>
            </a:r>
            <a:r>
              <a:rPr lang="en-US" sz="2000" dirty="0"/>
              <a:t> con il </a:t>
            </a:r>
            <a:r>
              <a:rPr lang="en-US" sz="2000" dirty="0" err="1"/>
              <a:t>codice</a:t>
            </a:r>
            <a:r>
              <a:rPr lang="en-US" sz="2000" dirty="0"/>
              <a:t> SQL. </a:t>
            </a:r>
          </a:p>
        </p:txBody>
      </p:sp>
    </p:spTree>
    <p:extLst>
      <p:ext uri="{BB962C8B-B14F-4D97-AF65-F5344CB8AC3E}">
        <p14:creationId xmlns:p14="http://schemas.microsoft.com/office/powerpoint/2010/main" val="782987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093DF52-9A74-B48F-EC2E-B50A795F3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GUIUtenti</a:t>
            </a: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Segnaposto contenuto 3" descr="Immagine che contiene testo, schermata, schermo, software&#10;&#10;Il contenuto generato dall'IA potrebbe non essere corretto.">
            <a:extLst>
              <a:ext uri="{FF2B5EF4-FFF2-40B4-BE49-F238E27FC236}">
                <a16:creationId xmlns:a16="http://schemas.microsoft.com/office/drawing/2014/main" id="{0B097C8D-D510-D8DE-1C4D-789029FD7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164777"/>
            <a:ext cx="6780700" cy="452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37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31FC099-3B8C-F730-373A-378D1A36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4" y="439639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CONCLUSIONI</a:t>
            </a:r>
            <a:endParaRPr lang="en-US" sz="6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9A680E-B6F6-6A08-8118-92C8BB231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751742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kern="1200" dirty="0">
                <a:latin typeface="+mn-lt"/>
                <a:ea typeface="+mn-ea"/>
                <a:cs typeface="+mn-cs"/>
              </a:rPr>
              <a:t>Il </a:t>
            </a:r>
            <a:r>
              <a:rPr lang="en-US" sz="2000" b="1" kern="1200" dirty="0" err="1">
                <a:latin typeface="+mn-lt"/>
                <a:ea typeface="+mn-ea"/>
                <a:cs typeface="+mn-cs"/>
              </a:rPr>
              <a:t>progetto</a:t>
            </a:r>
            <a:r>
              <a:rPr lang="en-US" sz="2000" b="1" kern="1200" dirty="0">
                <a:latin typeface="+mn-lt"/>
                <a:ea typeface="+mn-ea"/>
                <a:cs typeface="+mn-cs"/>
              </a:rPr>
              <a:t> è </a:t>
            </a:r>
            <a:r>
              <a:rPr lang="en-US" sz="2000" b="1" kern="1200" dirty="0" err="1">
                <a:latin typeface="+mn-lt"/>
                <a:ea typeface="+mn-ea"/>
                <a:cs typeface="+mn-cs"/>
              </a:rPr>
              <a:t>stato</a:t>
            </a:r>
            <a:r>
              <a:rPr lang="en-US" sz="2000" b="1" kern="1200" dirty="0">
                <a:latin typeface="+mn-lt"/>
                <a:ea typeface="+mn-ea"/>
                <a:cs typeface="+mn-cs"/>
              </a:rPr>
              <a:t> </a:t>
            </a:r>
            <a:r>
              <a:rPr lang="en-US" sz="2000" b="1" kern="1200" dirty="0" err="1">
                <a:latin typeface="+mn-lt"/>
                <a:ea typeface="+mn-ea"/>
                <a:cs typeface="+mn-cs"/>
              </a:rPr>
              <a:t>svolto</a:t>
            </a:r>
            <a:r>
              <a:rPr lang="en-US" sz="2000" b="1" kern="1200" dirty="0">
                <a:latin typeface="+mn-lt"/>
                <a:ea typeface="+mn-ea"/>
                <a:cs typeface="+mn-cs"/>
              </a:rPr>
              <a:t> da: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DF2DD8F6-9BEC-D8C1-B404-31E4F1C1D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594925"/>
              </p:ext>
            </p:extLst>
          </p:nvPr>
        </p:nvGraphicFramePr>
        <p:xfrm>
          <a:off x="2953414" y="3107354"/>
          <a:ext cx="6280574" cy="1889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2641">
                  <a:extLst>
                    <a:ext uri="{9D8B030D-6E8A-4147-A177-3AD203B41FA5}">
                      <a16:colId xmlns:a16="http://schemas.microsoft.com/office/drawing/2014/main" val="1997621218"/>
                    </a:ext>
                  </a:extLst>
                </a:gridCol>
                <a:gridCol w="2467933">
                  <a:extLst>
                    <a:ext uri="{9D8B030D-6E8A-4147-A177-3AD203B41FA5}">
                      <a16:colId xmlns:a16="http://schemas.microsoft.com/office/drawing/2014/main" val="781476843"/>
                    </a:ext>
                  </a:extLst>
                </a:gridCol>
              </a:tblGrid>
              <a:tr h="513113">
                <a:tc>
                  <a:txBody>
                    <a:bodyPr/>
                    <a:lstStyle/>
                    <a:p>
                      <a:r>
                        <a:rPr lang="it-IT" sz="2000" dirty="0"/>
                        <a:t>Studente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Matricola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043852504"/>
                  </a:ext>
                </a:extLst>
              </a:tr>
              <a:tr h="513113">
                <a:tc>
                  <a:txBody>
                    <a:bodyPr/>
                    <a:lstStyle/>
                    <a:p>
                      <a:r>
                        <a:rPr lang="it-IT" sz="2000" dirty="0"/>
                        <a:t>Andrea Zeno</a:t>
                      </a:r>
                    </a:p>
                  </a:txBody>
                  <a:tcPr marL="167640" marR="167640" marT="83820" marB="838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0512119850</a:t>
                      </a:r>
                    </a:p>
                  </a:txBody>
                  <a:tcPr marL="167640" marR="167640" marT="83820" marB="8382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230337"/>
                  </a:ext>
                </a:extLst>
              </a:tr>
              <a:tr h="862963">
                <a:tc>
                  <a:txBody>
                    <a:bodyPr/>
                    <a:lstStyle/>
                    <a:p>
                      <a:r>
                        <a:rPr lang="it-IT" sz="2000" dirty="0"/>
                        <a:t>Angelo Vito Saggese Tozzi</a:t>
                      </a:r>
                    </a:p>
                  </a:txBody>
                  <a:tcPr marL="167640" marR="167640" marT="83820" marB="838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0512120249</a:t>
                      </a:r>
                    </a:p>
                  </a:txBody>
                  <a:tcPr marL="167640" marR="167640" marT="83820" marB="8382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124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0822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2009</Words>
  <Application>Microsoft Office PowerPoint</Application>
  <PresentationFormat>Widescreen</PresentationFormat>
  <Paragraphs>426</Paragraphs>
  <Slides>29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Cambria Math</vt:lpstr>
      <vt:lpstr>Wingdings</vt:lpstr>
      <vt:lpstr>Tema di Office</vt:lpstr>
      <vt:lpstr>DataBus</vt:lpstr>
      <vt:lpstr>Traccia </vt:lpstr>
      <vt:lpstr>Schema Concettuale</vt:lpstr>
      <vt:lpstr>  Dizionario delle Entità </vt:lpstr>
      <vt:lpstr>Dizionario delle Relazioni</vt:lpstr>
      <vt:lpstr>Tavola dei volumi</vt:lpstr>
      <vt:lpstr>Analisi delle Ridondanze</vt:lpstr>
      <vt:lpstr>Calcolo dei costi</vt:lpstr>
      <vt:lpstr>Ristrutturazione</vt:lpstr>
      <vt:lpstr>Schema Concettuale</vt:lpstr>
      <vt:lpstr>Vincoli non esprimibili</vt:lpstr>
      <vt:lpstr>  Dizionario delle Entità Ristrutturato  </vt:lpstr>
      <vt:lpstr>  Dizionario delle Relazioni Ristrutturato  </vt:lpstr>
      <vt:lpstr>Tavola dei volumi dopo la Ristrutturazione</vt:lpstr>
      <vt:lpstr>Tavola delle Operazioni</vt:lpstr>
      <vt:lpstr>Tavola degli accessi (Operazione n°1)</vt:lpstr>
      <vt:lpstr>Tavola degli accessi (Operazione n°2)</vt:lpstr>
      <vt:lpstr>Tavola degli accessi (Operazione n°3)</vt:lpstr>
      <vt:lpstr>Schema Logico</vt:lpstr>
      <vt:lpstr>Vincoli di Integrità Referenziale</vt:lpstr>
      <vt:lpstr>SQL</vt:lpstr>
      <vt:lpstr>SQL</vt:lpstr>
      <vt:lpstr>SQL</vt:lpstr>
      <vt:lpstr>SQL</vt:lpstr>
      <vt:lpstr>SQL</vt:lpstr>
      <vt:lpstr>SQL</vt:lpstr>
      <vt:lpstr>Interfaccia di Gestione Operativa (GUI)</vt:lpstr>
      <vt:lpstr>GUIUtenti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ZENO</dc:creator>
  <cp:lastModifiedBy>ANDREA ZENO</cp:lastModifiedBy>
  <cp:revision>111</cp:revision>
  <dcterms:created xsi:type="dcterms:W3CDTF">2026-01-31T09:54:29Z</dcterms:created>
  <dcterms:modified xsi:type="dcterms:W3CDTF">2026-02-07T11:22:04Z</dcterms:modified>
</cp:coreProperties>
</file>